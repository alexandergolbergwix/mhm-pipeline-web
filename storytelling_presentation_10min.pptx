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he-IL" dirty="0">
                <a:cs typeface="Arial"/>
                <a:ea typeface="Arial"/>
              </a:rPr>
              <a:t>אני פותח בשאלה: למה הרבה מצגות אקדמיות מרגישות כמו רשימת עובדות ולא כמו סיפור?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המטרה של המצגת היא להראות איך אפשר להפוך תוכן אקדמי למשהו הרבה יותר ברור, חי ומעניין, בלי לוותר על הדיוק.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אני לא מתחיל בפרטים הטכניים. אני מתחיל במסגרת שמחזיקה את כל המצגת.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he-IL" dirty="0">
                <a:cs typeface="Arial"/>
                <a:ea typeface="Arial"/>
              </a:rPr>
              <a:t>השלד הכי חשוב הוא And, But, Therefore.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קודם נותנים קונטקסט, אחר כך מציגים את הפער או המתח, ורק אז את הפתרון.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זה מונע מצגת כרונולוגית של &amp;quot;ואז, ואז, ואז&amp;quot;, ומכריח אותי לבנות טיעון.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he-IL" dirty="0">
                <a:cs typeface="Arial"/>
                <a:ea typeface="Arial"/>
              </a:rPr>
              <a:t>בדקה הראשונה אני לא מציג את עצמי בצורה ארוכה, אלא פותח עם שאלה, עובדה מפתיעה או דימוי שמכניס את הקהל ישר פנימה.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אם הקהל לא נכנס כבר בהתחלה, קשה מאוד להחזיר את תשומת הלב שלו אחר כך.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כאן אני רוצה להראות שהפתיחה היא לא הקדמה טכנית, אלא חלק מהסיפור.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he-IL" dirty="0">
                <a:cs typeface="Arial"/>
                <a:ea typeface="Arial"/>
              </a:rPr>
              <a:t>כל שקף צריך לשרת רעיון אחד.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הכותרת עצמה צריכה להגיד את המסקנה, ולא רק להיות שם של נושא.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אם יש יותר מדי טקסט, הקהל מתחיל לקרוא במקום להקשיב.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he-IL" dirty="0">
                <a:cs typeface="Arial"/>
                <a:ea typeface="Arial"/>
              </a:rPr>
              <a:t>כאן אני מדגיש את ההבדל בין חיפוש תוצאות לבין הסבר לקהל.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לא צריך להראות את כל מה שעשינו. צריך להראות רק את הדברים שבאמת תומכים בטענה המרכזית.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כשהשקף נהיה עמוס, הקהל לא יודע לאן להסתכל.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he-IL" dirty="0">
                <a:cs typeface="Arial"/>
                <a:ea typeface="Arial"/>
              </a:rPr>
              <a:t>מעברים טובים שומרים על תנופה.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אני מסכם בקצרה מה היה קודם, ואז מסמן בבירור לאן עוברים.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גם השפה וגם הוויזואליה צריכים לעבוד יחד, כדי שהקהל לא יאבד את החוט.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he-IL" dirty="0">
                <a:cs typeface="Arial"/>
                <a:ea typeface="Arial"/>
              </a:rPr>
              <a:t>דימוי טוב עוזר לקהל להבין מהר, אבל חייבים להגיד איפה הוא מפסיק להיות מדויק.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בנוסף צריך לקשור את התוכן להשלכות אמיתיות: למה זה חשוב, למי זה משנה, ומה יוצא מזה.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כאן אני עובר מהסבר טכני למשמעות אנושית.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he-IL" dirty="0">
                <a:cs typeface="Arial"/>
                <a:ea typeface="Arial"/>
              </a:rPr>
              <a:t>הסיום צריך לענות על ה-So what.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אני מסכם בשלושה עקרונות פשוטים: להתחיל חזק, לבנות סיפור, ולהראות למה זה חשוב.</a:t>
            </a:r>
            <a:endParaRPr lang="he-IL" dirty="0"/>
          </a:p>
          <a:p>
            <a:pPr rtl="1" algn="r"/>
            <a:r>
              <a:rPr lang="he-IL" dirty="0">
                <a:cs typeface="Arial"/>
                <a:ea typeface="Arial"/>
              </a:rPr>
              <a:t>אם הקהל יכול לספר את הטיעון שלך במשפט אחד, המצגת עבדה.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-822960"/>
            <a:ext cx="4754880" cy="4754880"/>
          </a:xfrm>
          <a:prstGeom prst="ellipse">
            <a:avLst/>
          </a:prstGeom>
          <a:solidFill>
            <a:srgbClr val="F97316">
              <a:alpha val="16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05840" y="4800600"/>
            <a:ext cx="4206240" cy="4206240"/>
          </a:xfrm>
          <a:prstGeom prst="ellipse">
            <a:avLst/>
          </a:prstGeom>
          <a:solidFill>
            <a:srgbClr val="14B8A6">
              <a:alpha val="12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97316">
              <a:alpha val="3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024128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 Your Academic Talk Into a Story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85800" y="22402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6DE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10-minute plan for stronger engagement, cleaner slides, and a presentation people remember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" y="3063240"/>
            <a:ext cx="1417320" cy="329184"/>
          </a:xfrm>
          <a:prstGeom prst="roundRect">
            <a:avLst>
              <a:gd name="adj" fmla="val 19444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30906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in English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3063240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309067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Speaker notes in Hebrew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80560" y="3063240"/>
            <a:ext cx="914400" cy="329184"/>
          </a:xfrm>
          <a:prstGeom prst="roundRect">
            <a:avLst>
              <a:gd name="adj" fmla="val 19444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3090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minutes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0" y="91440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121B2E">
              <a:alpha val="8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1115568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973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183880" y="2331720"/>
            <a:ext cx="2011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Hook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Meaning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183880" y="4526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D6DE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does not speak for itself. The story does.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83880" y="4297680"/>
            <a:ext cx="2240280" cy="0"/>
          </a:xfrm>
          <a:prstGeom prst="line">
            <a:avLst/>
          </a:prstGeom>
          <a:noFill/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757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E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645566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E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Storytelling for academic talks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114800" cy="4114800"/>
          </a:xfrm>
          <a:prstGeom prst="ellipse">
            <a:avLst/>
          </a:prstGeom>
          <a:solidFill>
            <a:srgbClr val="F97316">
              <a:alpha val="8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120640"/>
            <a:ext cx="4023360" cy="4023360"/>
          </a:xfrm>
          <a:prstGeom prst="ellipse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>
              <a:alpha val="8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206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94944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conflict, not chronology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14173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ABT pattern keeps the talk moving: context, tension, resolution.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810512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FF8EE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938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" y="20939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395728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the scene. Show what is already known and what the audience can agree 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1810512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EEF8F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07992" y="192938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07992" y="20939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Conflict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7992" y="2395728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Introduce the gap, contradiction, or problem that creates curiosity.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28432" y="1810512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FF2F2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93024" y="192938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THEREFORE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193024" y="20939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Resolution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193024" y="2395728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method, result, and the implication that answers the question.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2505456"/>
            <a:ext cx="12801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2505456"/>
            <a:ext cx="12801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66160" y="3703320"/>
            <a:ext cx="5532120" cy="0"/>
          </a:xfrm>
          <a:prstGeom prst="line">
            <a:avLst/>
          </a:prstGeom>
          <a:noFill/>
          <a:ln w="12700">
            <a:solidFill>
              <a:srgbClr val="E7E1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16736" y="3886200"/>
            <a:ext cx="868680" cy="329184"/>
          </a:xfrm>
          <a:prstGeom prst="roundRect">
            <a:avLst>
              <a:gd name="adj" fmla="val 19444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16736" y="391363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23560" y="3886200"/>
            <a:ext cx="914400" cy="329184"/>
          </a:xfrm>
          <a:prstGeom prst="roundRect">
            <a:avLst>
              <a:gd name="adj" fmla="val 19444"/>
            </a:avLst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23560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Tension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564624" y="3886200"/>
            <a:ext cx="1051560" cy="329184"/>
          </a:xfrm>
          <a:prstGeom prst="roundRect">
            <a:avLst>
              <a:gd name="adj" fmla="val 19444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64624" y="3913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920240" y="475488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Good talks create a question in the audience, then pay it off.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14757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94360" y="645566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Storytelling for academic talks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114800" cy="4114800"/>
          </a:xfrm>
          <a:prstGeom prst="ellipse">
            <a:avLst/>
          </a:prstGeom>
          <a:solidFill>
            <a:srgbClr val="F97316">
              <a:alpha val="8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120640"/>
            <a:ext cx="4023360" cy="4023360"/>
          </a:xfrm>
          <a:prstGeom prst="ellipse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>
              <a:alpha val="8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206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HOOK THE ROOM FAST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94944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first 60 seconds decide everything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14173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with a question, a surprise, or an immersive prompt.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41248" y="1874520"/>
            <a:ext cx="1828800" cy="1828800"/>
          </a:xfrm>
          <a:prstGeom prst="ellipse">
            <a:avLst/>
          </a:prstGeom>
          <a:solidFill>
            <a:srgbClr val="FFFFFF">
              <a:alpha val="0"/>
            </a:srgbClr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26771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024128" y="274320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54680" y="1865376"/>
            <a:ext cx="914400" cy="329184"/>
          </a:xfrm>
          <a:prstGeom prst="roundRect">
            <a:avLst>
              <a:gd name="adj" fmla="val 19444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1892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32120" y="1865376"/>
            <a:ext cx="868680" cy="329184"/>
          </a:xfrm>
          <a:prstGeom prst="roundRect">
            <a:avLst>
              <a:gd name="adj" fmla="val 19444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32120" y="189280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Surprise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18120" y="1865376"/>
            <a:ext cx="914400" cy="329184"/>
          </a:xfrm>
          <a:prstGeom prst="roundRect">
            <a:avLst>
              <a:gd name="adj" fmla="val 19444"/>
            </a:avLst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18120" y="1892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Immersion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27248" y="2304288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DF8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7248" y="2304288"/>
            <a:ext cx="118872" cy="16002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28416" y="246888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Ask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328416" y="2834640"/>
            <a:ext cx="160934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sharp question pulls the audience into the problem before they can drift away.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13248" y="2304288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DF8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13248" y="2304288"/>
            <a:ext cx="118872" cy="160020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14416" y="246888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Startle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614416" y="2834640"/>
            <a:ext cx="160934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counterintuitive fact creates useful cognitive friction and makes people pay attention.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699248" y="2304288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DF8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99248" y="2304288"/>
            <a:ext cx="118872" cy="1600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0416" y="246888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Invite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00416" y="2834640"/>
            <a:ext cx="160934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quick mental image or action moves the audience from passive listening to participation.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154680" y="4572000"/>
            <a:ext cx="6720840" cy="914400"/>
          </a:xfrm>
          <a:prstGeom prst="roundRect">
            <a:avLst>
              <a:gd name="adj" fmla="val 7000"/>
            </a:avLst>
          </a:prstGeom>
          <a:solidFill>
            <a:srgbClr val="FCFAF5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19272" y="4736592"/>
            <a:ext cx="50292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5848" y="4974336"/>
            <a:ext cx="6336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Skip the long introduction. Start with the problem.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4757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94360" y="645566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Storytelling for academic talks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114800" cy="4114800"/>
          </a:xfrm>
          <a:prstGeom prst="ellipse">
            <a:avLst/>
          </a:prstGeom>
          <a:solidFill>
            <a:srgbClr val="F97316">
              <a:alpha val="8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120640"/>
            <a:ext cx="4023360" cy="4023360"/>
          </a:xfrm>
          <a:prstGeom prst="ellipse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>
              <a:alpha val="8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206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FOR ONE CLAIM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94944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Let the slide title say the conclusion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14173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slide should be readable as a sentence, not just a topic label.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9808" y="1783080"/>
            <a:ext cx="5074920" cy="3520440"/>
          </a:xfrm>
          <a:prstGeom prst="roundRect">
            <a:avLst>
              <a:gd name="adj" fmla="val 2078"/>
            </a:avLst>
          </a:prstGeom>
          <a:solidFill>
            <a:srgbClr val="FFF7F4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1783080"/>
            <a:ext cx="118872" cy="352044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1947672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Bad: topic label plus clutter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50976" y="2313432"/>
            <a:ext cx="476402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 many bullets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 much text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clear takeaway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Audience reads instead of listens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78992" y="2487168"/>
            <a:ext cx="324612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3017520"/>
            <a:ext cx="324612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78992" y="3547872"/>
            <a:ext cx="324612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8992" y="4078224"/>
            <a:ext cx="324612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286000"/>
            <a:ext cx="3474720" cy="192024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4498848" y="2286000"/>
            <a:ext cx="-3493008" cy="192024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336792" y="1783080"/>
            <a:ext cx="5074920" cy="3520440"/>
          </a:xfrm>
          <a:prstGeom prst="roundRect">
            <a:avLst>
              <a:gd name="adj" fmla="val 2078"/>
            </a:avLst>
          </a:prstGeom>
          <a:solidFill>
            <a:srgbClr val="F6FBFA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36792" y="1783080"/>
            <a:ext cx="118872" cy="35204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1947672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Good: one claim, one visual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37960" y="2313432"/>
            <a:ext cx="476402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title already gives the conclusion.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visual proves it.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speech explains why it matters.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56832" y="2395728"/>
            <a:ext cx="429768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67728" y="3749040"/>
            <a:ext cx="3502152" cy="0"/>
          </a:xfrm>
          <a:prstGeom prst="line">
            <a:avLst/>
          </a:prstGeom>
          <a:noFill/>
          <a:ln w="12700">
            <a:solidFill>
              <a:srgbClr val="14B8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0" y="3611880"/>
            <a:ext cx="502920" cy="-457200"/>
          </a:xfrm>
          <a:prstGeom prst="line">
            <a:avLst/>
          </a:prstGeom>
          <a:noFill/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35240" y="3154680"/>
            <a:ext cx="649224" cy="338328"/>
          </a:xfrm>
          <a:prstGeom prst="line">
            <a:avLst/>
          </a:prstGeom>
          <a:noFill/>
          <a:ln w="12700">
            <a:solidFill>
              <a:srgbClr val="14B8A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4464" y="3493008"/>
            <a:ext cx="722376" cy="-566928"/>
          </a:xfrm>
          <a:prstGeom prst="line">
            <a:avLst/>
          </a:prstGeom>
          <a:noFill/>
          <a:ln w="12700">
            <a:solidFill>
              <a:srgbClr val="14B8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06840" y="2926080"/>
            <a:ext cx="704088" cy="320040"/>
          </a:xfrm>
          <a:prstGeom prst="line">
            <a:avLst/>
          </a:prstGeom>
          <a:noFill/>
          <a:ln w="12700">
            <a:solidFill>
              <a:srgbClr val="14B8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10928" y="3246120"/>
            <a:ext cx="667512" cy="-548640"/>
          </a:xfrm>
          <a:prstGeom prst="line">
            <a:avLst/>
          </a:prstGeom>
          <a:noFill/>
          <a:ln w="12700">
            <a:solidFill>
              <a:srgbClr val="14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76288" y="26517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slide title should already tell the conclusion.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49440" y="40416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the chart, diagram, or image becomes evidence instead of decoration.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230368" y="5468112"/>
            <a:ext cx="896112" cy="329184"/>
          </a:xfrm>
          <a:prstGeom prst="roundRect">
            <a:avLst>
              <a:gd name="adj" fmla="val 19444"/>
            </a:avLst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549554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claim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19088" y="5468112"/>
            <a:ext cx="896112" cy="329184"/>
          </a:xfrm>
          <a:prstGeom prst="roundRect">
            <a:avLst>
              <a:gd name="adj" fmla="val 19444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9088" y="549554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visual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07808" y="5468112"/>
            <a:ext cx="1060704" cy="329184"/>
          </a:xfrm>
          <a:prstGeom prst="roundRect">
            <a:avLst>
              <a:gd name="adj" fmla="val 19444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07808" y="549554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takeaway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757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94360" y="645566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Storytelling for academic talks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114800" cy="4114800"/>
          </a:xfrm>
          <a:prstGeom prst="ellipse">
            <a:avLst/>
          </a:prstGeom>
          <a:solidFill>
            <a:srgbClr val="F97316">
              <a:alpha val="8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120640"/>
            <a:ext cx="4023360" cy="4023360"/>
          </a:xfrm>
          <a:prstGeom prst="ellipse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>
              <a:alpha val="8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206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RIGHT EVIDENCE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94944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only the evidence that matters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14173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Exploratory work belongs behind the scenes. Explanatory work belongs on the slide.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66360" cy="3520440"/>
          </a:xfrm>
          <a:prstGeom prst="roundRect">
            <a:avLst>
              <a:gd name="adj" fmla="val 2078"/>
            </a:avLst>
          </a:prstGeom>
          <a:solidFill>
            <a:srgbClr val="FFF9F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202996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Exploratory analysis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24140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rocks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743200"/>
            <a:ext cx="438912" cy="347472"/>
          </a:xfrm>
          <a:prstGeom prst="ellipse">
            <a:avLst/>
          </a:prstGeom>
          <a:solidFill>
            <a:srgbClr val="CBD5E1">
              <a:alpha val="8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36192" y="2743200"/>
            <a:ext cx="438912" cy="347472"/>
          </a:xfrm>
          <a:prstGeom prst="ellipse">
            <a:avLst/>
          </a:prstGeom>
          <a:solidFill>
            <a:srgbClr val="CBD5E1">
              <a:alpha val="77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57984" y="2743200"/>
            <a:ext cx="438912" cy="347472"/>
          </a:xfrm>
          <a:prstGeom prst="ellipse">
            <a:avLst/>
          </a:prstGeom>
          <a:solidFill>
            <a:srgbClr val="CBD5E1">
              <a:alpha val="69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79776" y="2743200"/>
            <a:ext cx="438912" cy="347472"/>
          </a:xfrm>
          <a:prstGeom prst="ellipse">
            <a:avLst/>
          </a:prstGeom>
          <a:solidFill>
            <a:srgbClr val="CBD5E1">
              <a:alpha val="8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01568" y="2743200"/>
            <a:ext cx="438912" cy="347472"/>
          </a:xfrm>
          <a:prstGeom prst="ellipse">
            <a:avLst/>
          </a:prstGeom>
          <a:solidFill>
            <a:srgbClr val="CBD5E1">
              <a:alpha val="77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2743200"/>
            <a:ext cx="438912" cy="347472"/>
          </a:xfrm>
          <a:prstGeom prst="ellipse">
            <a:avLst/>
          </a:prstGeom>
          <a:solidFill>
            <a:srgbClr val="CBD5E1">
              <a:alpha val="69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56432"/>
            <a:ext cx="438912" cy="347472"/>
          </a:xfrm>
          <a:prstGeom prst="ellipse">
            <a:avLst/>
          </a:prstGeom>
          <a:solidFill>
            <a:srgbClr val="CBD5E1">
              <a:alpha val="8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36192" y="3456432"/>
            <a:ext cx="438912" cy="347472"/>
          </a:xfrm>
          <a:prstGeom prst="ellipse">
            <a:avLst/>
          </a:prstGeom>
          <a:solidFill>
            <a:srgbClr val="CBD5E1">
              <a:alpha val="77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57984" y="3456432"/>
            <a:ext cx="438912" cy="347472"/>
          </a:xfrm>
          <a:prstGeom prst="ellipse">
            <a:avLst/>
          </a:prstGeom>
          <a:solidFill>
            <a:srgbClr val="CBD5E1">
              <a:alpha val="69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79776" y="3456432"/>
            <a:ext cx="438912" cy="347472"/>
          </a:xfrm>
          <a:prstGeom prst="ellipse">
            <a:avLst/>
          </a:prstGeom>
          <a:solidFill>
            <a:srgbClr val="CBD5E1">
              <a:alpha val="8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01568" y="3456432"/>
            <a:ext cx="438912" cy="347472"/>
          </a:xfrm>
          <a:prstGeom prst="ellipse">
            <a:avLst/>
          </a:prstGeom>
          <a:solidFill>
            <a:srgbClr val="CBD5E1">
              <a:alpha val="77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23360" y="3456432"/>
            <a:ext cx="438912" cy="347472"/>
          </a:xfrm>
          <a:prstGeom prst="ellipse">
            <a:avLst/>
          </a:prstGeom>
          <a:solidFill>
            <a:srgbClr val="CBD5E1">
              <a:alpha val="69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169664"/>
            <a:ext cx="438912" cy="347472"/>
          </a:xfrm>
          <a:prstGeom prst="ellipse">
            <a:avLst/>
          </a:prstGeom>
          <a:solidFill>
            <a:srgbClr val="CBD5E1">
              <a:alpha val="8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36192" y="4169664"/>
            <a:ext cx="438912" cy="347472"/>
          </a:xfrm>
          <a:prstGeom prst="ellipse">
            <a:avLst/>
          </a:prstGeom>
          <a:solidFill>
            <a:srgbClr val="CBD5E1">
              <a:alpha val="77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57984" y="4169664"/>
            <a:ext cx="438912" cy="347472"/>
          </a:xfrm>
          <a:prstGeom prst="ellipse">
            <a:avLst/>
          </a:prstGeom>
          <a:solidFill>
            <a:srgbClr val="CBD5E1">
              <a:alpha val="69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79776" y="4169664"/>
            <a:ext cx="438912" cy="347472"/>
          </a:xfrm>
          <a:prstGeom prst="ellipse">
            <a:avLst/>
          </a:prstGeom>
          <a:solidFill>
            <a:srgbClr val="CBD5E1">
              <a:alpha val="8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01568" y="4169664"/>
            <a:ext cx="438912" cy="347472"/>
          </a:xfrm>
          <a:prstGeom prst="ellipse">
            <a:avLst/>
          </a:prstGeom>
          <a:solidFill>
            <a:srgbClr val="CBD5E1">
              <a:alpha val="77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23360" y="4169664"/>
            <a:ext cx="438912" cy="347472"/>
          </a:xfrm>
          <a:prstGeom prst="ellipse">
            <a:avLst/>
          </a:prstGeom>
          <a:solidFill>
            <a:srgbClr val="CBD5E1">
              <a:alpha val="69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489204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the work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36208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F2FAF7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20299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Explanatory story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73952" y="24140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gems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720840" y="2788920"/>
            <a:ext cx="1234440" cy="1417320"/>
          </a:xfrm>
          <a:prstGeom prst="diamond">
            <a:avLst/>
          </a:prstGeom>
          <a:solidFill>
            <a:srgbClr val="9EE7D6">
              <a:alpha val="85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12480" y="2788920"/>
            <a:ext cx="1234440" cy="1417320"/>
          </a:xfrm>
          <a:prstGeom prst="diamond">
            <a:avLst/>
          </a:prstGeom>
          <a:solidFill>
            <a:srgbClr val="FBC2A1">
              <a:alpha val="88000"/>
            </a:srgbClr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4718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two findings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46520" y="49560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fewer numbers, fewer bullets, and a sharper sentence.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68680" y="571500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audience should see the conclusion, not your entire scratchpad.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14757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94360" y="645566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Storytelling for academic talks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114800" cy="4114800"/>
          </a:xfrm>
          <a:prstGeom prst="ellipse">
            <a:avLst/>
          </a:prstGeom>
          <a:solidFill>
            <a:srgbClr val="F97316">
              <a:alpha val="8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120640"/>
            <a:ext cx="4023360" cy="4023360"/>
          </a:xfrm>
          <a:prstGeom prst="ellipse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>
              <a:alpha val="8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206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ATTENTION MOVING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94944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Transitions create momentum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14173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verbal signposts, repeated visual motifs, and progressive reveal.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87552" y="3063240"/>
            <a:ext cx="10012680" cy="0"/>
          </a:xfrm>
          <a:prstGeom prst="line">
            <a:avLst/>
          </a:prstGeom>
          <a:noFill/>
          <a:ln w="12700">
            <a:solidFill>
              <a:srgbClr val="E7E1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2770632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290779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3520440"/>
            <a:ext cx="3063240" cy="1600200"/>
          </a:xfrm>
          <a:prstGeom prst="roundRect">
            <a:avLst>
              <a:gd name="adj" fmla="val 4571"/>
            </a:avLst>
          </a:prstGeom>
          <a:solidFill>
            <a:srgbClr val="FFFDF8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520440"/>
            <a:ext cx="118872" cy="16002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7008" y="3685032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just saw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07008" y="4050792"/>
            <a:ext cx="275234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Summarize the previous point in one short sentence.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760720" y="2770632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290779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09160" y="205740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PIVOT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09160" y="3520440"/>
            <a:ext cx="3063240" cy="1600200"/>
          </a:xfrm>
          <a:prstGeom prst="roundRect">
            <a:avLst>
              <a:gd name="adj" fmla="val 4571"/>
            </a:avLst>
          </a:prstGeom>
          <a:solidFill>
            <a:srgbClr val="FFFDF8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3520440"/>
            <a:ext cx="118872" cy="1600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0328" y="3685032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Now the tension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910328" y="4050792"/>
            <a:ext cx="275234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Say why the previous slide is not enough and what question comes next.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464040" y="2770632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64040" y="290779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B9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12480" y="205740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B9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3520440"/>
            <a:ext cx="3063240" cy="1600200"/>
          </a:xfrm>
          <a:prstGeom prst="roundRect">
            <a:avLst>
              <a:gd name="adj" fmla="val 4571"/>
            </a:avLst>
          </a:prstGeom>
          <a:solidFill>
            <a:srgbClr val="FFFDF8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2480" y="3520440"/>
            <a:ext cx="118872" cy="160020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3648" y="3685032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the answer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613648" y="4050792"/>
            <a:ext cx="275234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next result or explanation after the audience is ready.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87552" y="5440680"/>
            <a:ext cx="10149840" cy="658368"/>
          </a:xfrm>
          <a:prstGeom prst="roundRect">
            <a:avLst>
              <a:gd name="adj" fmla="val 9722"/>
            </a:avLst>
          </a:prstGeom>
          <a:solidFill>
            <a:srgbClr val="FFF9F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52144" y="5605272"/>
            <a:ext cx="50292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0" y="5843016"/>
            <a:ext cx="9765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Pause for a beat after a key result. Silence can be a transition.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757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4360" y="645566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Storytelling for academic talks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114800" cy="4114800"/>
          </a:xfrm>
          <a:prstGeom prst="ellipse">
            <a:avLst/>
          </a:prstGeom>
          <a:solidFill>
            <a:srgbClr val="F97316">
              <a:alpha val="8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120640"/>
            <a:ext cx="4023360" cy="4023360"/>
          </a:xfrm>
          <a:prstGeom prst="ellipse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>
              <a:alpha val="8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206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IT CONCRETE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94944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Make the abstract concrete and the stakes human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14173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analogy builds understanding. A good story makes the outcome matter.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9808" y="1828800"/>
            <a:ext cx="4956048" cy="3584448"/>
          </a:xfrm>
          <a:prstGeom prst="roundRect">
            <a:avLst>
              <a:gd name="adj" fmla="val 2041"/>
            </a:avLst>
          </a:prstGeom>
          <a:solidFill>
            <a:srgbClr val="FFF9F7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1828800"/>
            <a:ext cx="118872" cy="358444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1993392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Analogy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50976" y="2359152"/>
            <a:ext cx="4645152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something familiar.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the parts carefully.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Say where the comparison breaks.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60704" y="2807208"/>
            <a:ext cx="3566160" cy="0"/>
          </a:xfrm>
          <a:prstGeom prst="line">
            <a:avLst/>
          </a:prstGeom>
          <a:noFill/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3154680"/>
            <a:ext cx="896112" cy="329184"/>
          </a:xfrm>
          <a:prstGeom prst="roundRect">
            <a:avLst>
              <a:gd name="adj" fmla="val 19444"/>
            </a:avLst>
          </a:prstGeom>
          <a:solidFill>
            <a:srgbClr val="14B8A6"/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182112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Familiar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76272" y="3154680"/>
            <a:ext cx="384048" cy="329184"/>
          </a:xfrm>
          <a:prstGeom prst="roundRect">
            <a:avLst>
              <a:gd name="adj" fmla="val 19444"/>
            </a:avLst>
          </a:prstGeom>
          <a:solidFill>
            <a:srgbClr val="FCFAF5"/>
          </a:solidFill>
          <a:ln w="12700">
            <a:solidFill>
              <a:srgbClr val="FCFAF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76272" y="318211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51760" y="3154680"/>
            <a:ext cx="841248" cy="329184"/>
          </a:xfrm>
          <a:prstGeom prst="roundRect">
            <a:avLst>
              <a:gd name="adj" fmla="val 19444"/>
            </a:avLst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318211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idea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75888" y="3154680"/>
            <a:ext cx="384048" cy="329184"/>
          </a:xfrm>
          <a:prstGeom prst="roundRect">
            <a:avLst>
              <a:gd name="adj" fmla="val 19444"/>
            </a:avLst>
          </a:prstGeom>
          <a:solidFill>
            <a:srgbClr val="FCFAF5"/>
          </a:solidFill>
          <a:ln w="12700">
            <a:solidFill>
              <a:srgbClr val="FCFAF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75888" y="318211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69664" y="3154680"/>
            <a:ext cx="1078992" cy="329184"/>
          </a:xfrm>
          <a:prstGeom prst="roundRect">
            <a:avLst>
              <a:gd name="adj" fmla="val 19444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9664" y="318211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meaning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64224" y="1828800"/>
            <a:ext cx="4956048" cy="3584448"/>
          </a:xfrm>
          <a:prstGeom prst="roundRect">
            <a:avLst>
              <a:gd name="adj" fmla="val 2041"/>
            </a:avLst>
          </a:prstGeom>
          <a:solidFill>
            <a:srgbClr val="F4FBF8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64224" y="1828800"/>
            <a:ext cx="118872" cy="35844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65392" y="1993392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65392" y="2359152"/>
            <a:ext cx="4645152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Link the result to a real decision, a real audience, or a real consequence.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is where memory and persuasion happen.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65392" y="444398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the audience feels the significance, they will remember the science.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87552" y="5687568"/>
            <a:ext cx="10058400" cy="502920"/>
          </a:xfrm>
          <a:prstGeom prst="roundRect">
            <a:avLst>
              <a:gd name="adj" fmla="val 12727"/>
            </a:avLst>
          </a:prstGeom>
          <a:solidFill>
            <a:srgbClr val="FFF8F8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52144" y="5852160"/>
            <a:ext cx="502920" cy="7315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88720" y="6089904"/>
            <a:ext cx="9674352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Always say where the analogy breaks.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4757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645566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Storytelling for academic talks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-822960"/>
            <a:ext cx="4754880" cy="4754880"/>
          </a:xfrm>
          <a:prstGeom prst="ellipse">
            <a:avLst/>
          </a:prstGeom>
          <a:solidFill>
            <a:srgbClr val="F97316">
              <a:alpha val="16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05840" y="4800600"/>
            <a:ext cx="4206240" cy="4206240"/>
          </a:xfrm>
          <a:prstGeom prst="ellipse">
            <a:avLst/>
          </a:prstGeom>
          <a:solidFill>
            <a:srgbClr val="14B8A6">
              <a:alpha val="12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97316">
              <a:alpha val="3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to change first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94944" y="1554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6DE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upgrade plan you can apply to almost any academic presentation.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" y="214884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FF8EE"/>
          </a:solidFill>
          <a:ln w="12700">
            <a:solidFill>
              <a:srgbClr val="2A32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22677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59536" y="24323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 with a question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9536" y="2734056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tension, surprise, or an immersive prompt instead of a long introduction.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25696" y="214884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EEF8F6"/>
          </a:solidFill>
          <a:ln w="12700">
            <a:solidFill>
              <a:srgbClr val="2A32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22677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90288" y="24323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 bullets into claims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90288" y="2734056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slide should have one message, one visual, and one point of emphasis.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56448" y="214884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FF2F2"/>
          </a:solidFill>
          <a:ln w="12700">
            <a:solidFill>
              <a:srgbClr val="2A32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2677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24323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 with the so what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2734056"/>
            <a:ext cx="312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stop at the result. Explain why it matters and what the audience should remember.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937760"/>
            <a:ext cx="10927080" cy="868680"/>
          </a:xfrm>
          <a:prstGeom prst="roundRect">
            <a:avLst>
              <a:gd name="adj" fmla="val 7368"/>
            </a:avLst>
          </a:prstGeom>
          <a:solidFill>
            <a:srgbClr val="121B2E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5102352"/>
            <a:ext cx="502920" cy="73152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340096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strong talk is clear enough to follow, and vivid enough to remember.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605332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they can retell your argument in one sentence, it worked.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757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E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" y="6455664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E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Storytelling for academic talks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mhm-pipeline-web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Turn Your Academic Talk Into a Story</dc:title>
  <dc:subject>Storytelling in academic and scientific presentations</dc:subject>
  <dc:creator>Codex</dc:creator>
  <cp:lastModifiedBy>Codex</cp:lastModifiedBy>
  <cp:revision>1</cp:revision>
  <dcterms:created xsi:type="dcterms:W3CDTF">2026-06-17T16:26:06Z</dcterms:created>
  <dcterms:modified xsi:type="dcterms:W3CDTF">2026-06-17T16:26:06Z</dcterms:modified>
</cp:coreProperties>
</file>