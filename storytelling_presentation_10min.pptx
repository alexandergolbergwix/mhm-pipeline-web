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אני פותח בשאלה: למה הרבה מצגות אקדמיות מרגישות כמו רשימת עובדות ולא כמו סיפור?
המטרה של המצגת היא להראות איך אפשר להפוך תוכן אקדמי למשהו הרבה יותר ברור, חי ומעניין, בלי לוותר על הדיוק.
אני לא מתחיל בפרטים הטכניים. אני מתחיל במסגרת שמחזיקה את כל המצגת.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השלד הכי חשוב הוא And, But, Therefore.
קודם נותנים קונטקסט, אחר כך מציגים את הפער או המתח, ורק אז את הפתרון.
זה מונע מצגת כרונולוגית של "ואז, ואז, ואז", ומכריח אותי לבנות טיעון.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בדקה הראשונה אני לא מציג את עצמי בצורה ארוכה, אלא פותח עם שאלה, עובדה מפתיעה או דימוי שמכניס את הקהל ישר פנימה.
אם הקהל לא נכנס כבר בהתחלה, קשה מאוד להחזיר את תשומת הלב שלו אחר כך.
כאן אני רוצה להראות שהפתיחה היא לא הקדמה טכנית, אלא חלק מהסיפור.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כל שקף צריך לשרת רעיון אחד.
הכותרת עצמה צריכה להגיד את המסקנה, ולא רק להיות שם של נושא.
אם יש יותר מדי טקסט, הקהל מתחיל לקרוא במקום להקשיב.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כאן אני מדגיש את ההבדל בין חיפוש תוצאות לבין הסבר לקהל.
לא צריך להראות את כל מה שעשינו. צריך להראות רק את הדברים שבאמת תומכים בטענה המרכזית.
כשהשקף נהיה עמוס, הקהל לא יודע לאן להסתכל.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מעברים טובים שומרים על תנופה.
אני מסכם בקצרה מה היה קודם, ואז מסמן בבירור לאן עוברים.
גם השפה וגם הוויזואליה צריכים לעבוד יחד, כדי שהקהל לא יאבד את החוט.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דימוי טוב עוזר לקהל להבין מהר, אבל חייבים להגיד איפה הוא מפסיק להיות מדויק.
בנוסף צריך לקשור את התוכן להשלכות אמיתיות: למה זה חשוב, למי זה משנה, ומה יוצא מזה.
כאן אני עובר מהסבר טכני למשמעות אנושית.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הסיום צריך לענות על ה-So what.
אני מסכם בשלושה עקרונות פשוטים: להתחיל חזק, לבנות סיפור, ולהראות למה זה חשוב.
אם הקהל יכול לספר את הטיעון שלך במשפט אחד, המצגת עבדה.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732520" y="-822960"/>
            <a:ext cx="4754880" cy="4754880"/>
          </a:xfrm>
          <a:prstGeom prst="ellipse">
            <a:avLst/>
          </a:prstGeom>
          <a:solidFill>
            <a:srgbClr val="F97316">
              <a:alpha val="16000"/>
            </a:srgbClr>
          </a:solidFill>
          <a:ln w="12700">
            <a:solidFill>
              <a:srgbClr val="F97316">
                <a:alpha val="0"/>
              </a:srgbClr>
            </a:solidFill>
            <a:prstDash val="solid"/>
          </a:ln>
        </p:spPr>
      </p:sp>
      <p:sp>
        <p:nvSpPr>
          <p:cNvPr id="3" name="Shape 1"/>
          <p:cNvSpPr/>
          <p:nvPr/>
        </p:nvSpPr>
        <p:spPr>
          <a:xfrm>
            <a:off x="-1005840" y="4800600"/>
            <a:ext cx="4206240" cy="4206240"/>
          </a:xfrm>
          <a:prstGeom prst="ellipse">
            <a:avLst/>
          </a:prstGeom>
          <a:solidFill>
            <a:srgbClr val="14B8A6">
              <a:alpha val="12000"/>
            </a:srgbClr>
          </a:solidFill>
          <a:ln w="12700">
            <a:solidFill>
              <a:srgbClr val="14B8A6">
                <a:alpha val="0"/>
              </a:srgbClr>
            </a:solidFill>
            <a:prstDash val="solid"/>
          </a:ln>
        </p:spPr>
      </p:sp>
      <p:sp>
        <p:nvSpPr>
          <p:cNvPr id="4" name="Shape 2"/>
          <p:cNvSpPr/>
          <p:nvPr/>
        </p:nvSpPr>
        <p:spPr>
          <a:xfrm>
            <a:off x="0" y="0"/>
            <a:ext cx="12191695" cy="128016"/>
          </a:xfrm>
          <a:prstGeom prst="rect">
            <a:avLst/>
          </a:prstGeom>
          <a:solidFill>
            <a:srgbClr val="F97316">
              <a:alpha val="30000"/>
            </a:srgbClr>
          </a:solidFill>
          <a:ln w="12700">
            <a:solidFill>
              <a:srgbClr val="F97316">
                <a:alpha val="0"/>
              </a:srgbClr>
            </a:solidFill>
            <a:prstDash val="solid"/>
          </a:ln>
        </p:spPr>
      </p:sp>
      <p:sp>
        <p:nvSpPr>
          <p:cNvPr id="5" name="Text 3"/>
          <p:cNvSpPr/>
          <p:nvPr/>
        </p:nvSpPr>
        <p:spPr>
          <a:xfrm>
            <a:off x="658368" y="1024128"/>
            <a:ext cx="6217920" cy="1188720"/>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Turn Your Academic Talk Into a Story</a:t>
            </a:r>
            <a:endParaRPr lang="en-US" sz="2900" dirty="0"/>
          </a:p>
        </p:txBody>
      </p:sp>
      <p:sp>
        <p:nvSpPr>
          <p:cNvPr id="6" name="Text 4"/>
          <p:cNvSpPr/>
          <p:nvPr/>
        </p:nvSpPr>
        <p:spPr>
          <a:xfrm>
            <a:off x="685800" y="2240280"/>
            <a:ext cx="5852160" cy="566928"/>
          </a:xfrm>
          <a:prstGeom prst="rect">
            <a:avLst/>
          </a:prstGeom>
          <a:noFill/>
          <a:ln/>
        </p:spPr>
        <p:txBody>
          <a:bodyPr wrap="square" lIns="0" tIns="0" rIns="0" bIns="0" rtlCol="0" anchor="ctr">
            <a:normAutofit/>
          </a:bodyPr>
          <a:lstStyle/>
          <a:p>
            <a:pPr indent="0" marL="0">
              <a:buNone/>
            </a:pPr>
            <a:r>
              <a:rPr lang="en-US" sz="1500" dirty="0">
                <a:solidFill>
                  <a:srgbClr val="D6DEE9"/>
                </a:solidFill>
                <a:latin typeface="Aptos" pitchFamily="34" charset="0"/>
                <a:ea typeface="Aptos" pitchFamily="34" charset="-122"/>
                <a:cs typeface="Aptos" pitchFamily="34" charset="-120"/>
              </a:rPr>
              <a:t>A 10-minute plan for stronger engagement, cleaner slides, and a presentation people remember</a:t>
            </a:r>
            <a:endParaRPr lang="en-US" sz="1500" dirty="0"/>
          </a:p>
        </p:txBody>
      </p:sp>
      <p:sp>
        <p:nvSpPr>
          <p:cNvPr id="7" name="Shape 5"/>
          <p:cNvSpPr/>
          <p:nvPr/>
        </p:nvSpPr>
        <p:spPr>
          <a:xfrm>
            <a:off x="676656" y="3063240"/>
            <a:ext cx="1417320" cy="329184"/>
          </a:xfrm>
          <a:prstGeom prst="roundRect">
            <a:avLst>
              <a:gd name="adj" fmla="val 19444"/>
            </a:avLst>
          </a:prstGeom>
          <a:solidFill>
            <a:srgbClr val="14B8A6"/>
          </a:solidFill>
          <a:ln w="12700">
            <a:solidFill>
              <a:srgbClr val="14B8A6">
                <a:alpha val="0"/>
              </a:srgbClr>
            </a:solidFill>
            <a:prstDash val="solid"/>
          </a:ln>
        </p:spPr>
      </p:sp>
      <p:sp>
        <p:nvSpPr>
          <p:cNvPr id="8" name="Text 6"/>
          <p:cNvSpPr/>
          <p:nvPr/>
        </p:nvSpPr>
        <p:spPr>
          <a:xfrm>
            <a:off x="676656" y="3090672"/>
            <a:ext cx="1417320"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Slides in English</a:t>
            </a:r>
            <a:endParaRPr lang="en-US" sz="1000" dirty="0"/>
          </a:p>
        </p:txBody>
      </p:sp>
      <p:sp>
        <p:nvSpPr>
          <p:cNvPr id="9" name="Shape 7"/>
          <p:cNvSpPr/>
          <p:nvPr/>
        </p:nvSpPr>
        <p:spPr>
          <a:xfrm>
            <a:off x="2212848" y="3063240"/>
            <a:ext cx="2103120" cy="329184"/>
          </a:xfrm>
          <a:prstGeom prst="roundRect">
            <a:avLst>
              <a:gd name="adj" fmla="val 19444"/>
            </a:avLst>
          </a:prstGeom>
          <a:solidFill>
            <a:srgbClr val="F97316"/>
          </a:solidFill>
          <a:ln w="12700">
            <a:solidFill>
              <a:srgbClr val="F97316">
                <a:alpha val="0"/>
              </a:srgbClr>
            </a:solidFill>
            <a:prstDash val="solid"/>
          </a:ln>
        </p:spPr>
      </p:sp>
      <p:sp>
        <p:nvSpPr>
          <p:cNvPr id="10" name="Text 8"/>
          <p:cNvSpPr/>
          <p:nvPr/>
        </p:nvSpPr>
        <p:spPr>
          <a:xfrm>
            <a:off x="2212848" y="3090672"/>
            <a:ext cx="2103120"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Speaker notes in Hebrew</a:t>
            </a:r>
            <a:endParaRPr lang="en-US" sz="1000" dirty="0"/>
          </a:p>
        </p:txBody>
      </p:sp>
      <p:sp>
        <p:nvSpPr>
          <p:cNvPr id="11" name="Shape 9"/>
          <p:cNvSpPr/>
          <p:nvPr/>
        </p:nvSpPr>
        <p:spPr>
          <a:xfrm>
            <a:off x="4480560" y="3063240"/>
            <a:ext cx="914400" cy="329184"/>
          </a:xfrm>
          <a:prstGeom prst="roundRect">
            <a:avLst>
              <a:gd name="adj" fmla="val 19444"/>
            </a:avLst>
          </a:prstGeom>
          <a:solidFill>
            <a:srgbClr val="F4B942"/>
          </a:solidFill>
          <a:ln w="12700">
            <a:solidFill>
              <a:srgbClr val="F4B942">
                <a:alpha val="0"/>
              </a:srgbClr>
            </a:solidFill>
            <a:prstDash val="solid"/>
          </a:ln>
        </p:spPr>
      </p:sp>
      <p:sp>
        <p:nvSpPr>
          <p:cNvPr id="12" name="Text 10"/>
          <p:cNvSpPr/>
          <p:nvPr/>
        </p:nvSpPr>
        <p:spPr>
          <a:xfrm>
            <a:off x="4480560" y="3090672"/>
            <a:ext cx="914400" cy="201168"/>
          </a:xfrm>
          <a:prstGeom prst="rect">
            <a:avLst/>
          </a:prstGeom>
          <a:noFill/>
          <a:ln/>
        </p:spPr>
        <p:txBody>
          <a:bodyPr wrap="square" lIns="0" tIns="0" rIns="0" bIns="0" rtlCol="0" anchor="ctr"/>
          <a:lstStyle/>
          <a:p>
            <a:pPr algn="ctr" indent="0" marL="0">
              <a:buNone/>
            </a:pPr>
            <a:r>
              <a:rPr lang="en-US" sz="1000" b="1" dirty="0">
                <a:solidFill>
                  <a:srgbClr val="0B1220"/>
                </a:solidFill>
                <a:latin typeface="Aptos" pitchFamily="34" charset="0"/>
                <a:ea typeface="Aptos" pitchFamily="34" charset="-122"/>
                <a:cs typeface="Aptos" pitchFamily="34" charset="-120"/>
              </a:rPr>
              <a:t>10 minutes</a:t>
            </a:r>
            <a:endParaRPr lang="en-US" sz="1000" dirty="0"/>
          </a:p>
        </p:txBody>
      </p:sp>
      <p:sp>
        <p:nvSpPr>
          <p:cNvPr id="13" name="Shape 11"/>
          <p:cNvSpPr/>
          <p:nvPr/>
        </p:nvSpPr>
        <p:spPr>
          <a:xfrm>
            <a:off x="7772400" y="914400"/>
            <a:ext cx="3520440" cy="4480560"/>
          </a:xfrm>
          <a:prstGeom prst="roundRect">
            <a:avLst>
              <a:gd name="adj" fmla="val 2078"/>
            </a:avLst>
          </a:prstGeom>
          <a:solidFill>
            <a:srgbClr val="121B2E">
              <a:alpha val="86000"/>
            </a:srgbClr>
          </a:solidFill>
          <a:ln w="12700">
            <a:solidFill>
              <a:srgbClr val="FFFFFF">
                <a:alpha val="0"/>
              </a:srgbClr>
            </a:solidFill>
            <a:prstDash val="solid"/>
          </a:ln>
        </p:spPr>
      </p:sp>
      <p:sp>
        <p:nvSpPr>
          <p:cNvPr id="14" name="Text 12"/>
          <p:cNvSpPr/>
          <p:nvPr/>
        </p:nvSpPr>
        <p:spPr>
          <a:xfrm>
            <a:off x="8092440" y="1115568"/>
            <a:ext cx="2194560" cy="1097280"/>
          </a:xfrm>
          <a:prstGeom prst="rect">
            <a:avLst/>
          </a:prstGeom>
          <a:noFill/>
          <a:ln/>
        </p:spPr>
        <p:txBody>
          <a:bodyPr wrap="square" lIns="0" tIns="0" rIns="0" bIns="0" rtlCol="0" anchor="ctr"/>
          <a:lstStyle/>
          <a:p>
            <a:pPr indent="0" marL="0">
              <a:buNone/>
            </a:pPr>
            <a:r>
              <a:rPr lang="en-US" sz="4800" b="1" dirty="0">
                <a:solidFill>
                  <a:srgbClr val="F97316"/>
                </a:solidFill>
                <a:latin typeface="Aptos Display" pitchFamily="34" charset="0"/>
                <a:ea typeface="Aptos Display" pitchFamily="34" charset="-122"/>
                <a:cs typeface="Aptos Display" pitchFamily="34" charset="-120"/>
              </a:rPr>
              <a:t>01</a:t>
            </a:r>
            <a:endParaRPr lang="en-US" sz="4800" dirty="0"/>
          </a:p>
        </p:txBody>
      </p:sp>
      <p:sp>
        <p:nvSpPr>
          <p:cNvPr id="15" name="Text 13"/>
          <p:cNvSpPr/>
          <p:nvPr/>
        </p:nvSpPr>
        <p:spPr>
          <a:xfrm>
            <a:off x="8183880" y="2331720"/>
            <a:ext cx="2011680" cy="1828800"/>
          </a:xfrm>
          <a:prstGeom prst="rect">
            <a:avLst/>
          </a:prstGeom>
          <a:noFill/>
          <a:ln/>
        </p:spPr>
        <p:txBody>
          <a:bodyPr wrap="square" lIns="0" tIns="0" rIns="0" bIns="0" rtlCol="0" anchor="ctr"/>
          <a:lstStyle/>
          <a:p>
            <a:pPr indent="0" marL="0">
              <a:buNone/>
            </a:pPr>
            <a:r>
              <a:rPr lang="en-US" sz="1800" b="1" dirty="0">
                <a:solidFill>
                  <a:srgbClr val="FFFFFF"/>
                </a:solidFill>
                <a:latin typeface="Aptos Display" pitchFamily="34" charset="0"/>
                <a:ea typeface="Aptos Display" pitchFamily="34" charset="-122"/>
                <a:cs typeface="Aptos Display" pitchFamily="34" charset="-120"/>
              </a:rPr>
              <a:t>Hook</a:t>
            </a:r>
            <a:endParaRPr lang="en-US" sz="1800" dirty="0"/>
          </a:p>
          <a:p>
            <a:pPr indent="0" marL="0">
              <a:buNone/>
            </a:pPr>
            <a:r>
              <a:rPr lang="en-US" sz="1800" b="1" dirty="0">
                <a:solidFill>
                  <a:srgbClr val="FFFFFF"/>
                </a:solidFill>
                <a:latin typeface="Aptos Display" pitchFamily="34" charset="0"/>
                <a:ea typeface="Aptos Display" pitchFamily="34" charset="-122"/>
                <a:cs typeface="Aptos Display" pitchFamily="34" charset="-120"/>
              </a:rPr>
              <a:t>Structure</a:t>
            </a:r>
            <a:endParaRPr lang="en-US" sz="1800" dirty="0"/>
          </a:p>
          <a:p>
            <a:pPr indent="0" marL="0">
              <a:buNone/>
            </a:pPr>
            <a:r>
              <a:rPr lang="en-US" sz="1800" b="1" dirty="0">
                <a:solidFill>
                  <a:srgbClr val="FFFFFF"/>
                </a:solidFill>
                <a:latin typeface="Aptos Display" pitchFamily="34" charset="0"/>
                <a:ea typeface="Aptos Display" pitchFamily="34" charset="-122"/>
                <a:cs typeface="Aptos Display" pitchFamily="34" charset="-120"/>
              </a:rPr>
              <a:t>Visuals</a:t>
            </a:r>
            <a:endParaRPr lang="en-US" sz="1800" dirty="0"/>
          </a:p>
          <a:p>
            <a:pPr indent="0" marL="0">
              <a:buNone/>
            </a:pPr>
            <a:r>
              <a:rPr lang="en-US" sz="1800" b="1" dirty="0">
                <a:solidFill>
                  <a:srgbClr val="FFFFFF"/>
                </a:solidFill>
                <a:latin typeface="Aptos Display" pitchFamily="34" charset="0"/>
                <a:ea typeface="Aptos Display" pitchFamily="34" charset="-122"/>
                <a:cs typeface="Aptos Display" pitchFamily="34" charset="-120"/>
              </a:rPr>
              <a:t>Meaning</a:t>
            </a:r>
            <a:endParaRPr lang="en-US" sz="1800" dirty="0"/>
          </a:p>
        </p:txBody>
      </p:sp>
      <p:sp>
        <p:nvSpPr>
          <p:cNvPr id="16" name="Text 14"/>
          <p:cNvSpPr/>
          <p:nvPr/>
        </p:nvSpPr>
        <p:spPr>
          <a:xfrm>
            <a:off x="8183880" y="4526280"/>
            <a:ext cx="2606040" cy="548640"/>
          </a:xfrm>
          <a:prstGeom prst="rect">
            <a:avLst/>
          </a:prstGeom>
          <a:noFill/>
          <a:ln/>
        </p:spPr>
        <p:txBody>
          <a:bodyPr wrap="square" lIns="0" tIns="0" rIns="0" bIns="0" rtlCol="0" anchor="ctr">
            <a:normAutofit/>
          </a:bodyPr>
          <a:lstStyle/>
          <a:p>
            <a:pPr indent="0" marL="0">
              <a:buNone/>
            </a:pPr>
            <a:r>
              <a:rPr lang="en-US" sz="1300" i="1" dirty="0">
                <a:solidFill>
                  <a:srgbClr val="D6DEE9"/>
                </a:solidFill>
                <a:latin typeface="Aptos" pitchFamily="34" charset="0"/>
                <a:ea typeface="Aptos" pitchFamily="34" charset="-122"/>
                <a:cs typeface="Aptos" pitchFamily="34" charset="-120"/>
              </a:rPr>
              <a:t>Data does not speak for itself. The story does.</a:t>
            </a:r>
            <a:endParaRPr lang="en-US" sz="1300" dirty="0"/>
          </a:p>
        </p:txBody>
      </p:sp>
      <p:sp>
        <p:nvSpPr>
          <p:cNvPr id="17" name="Shape 15"/>
          <p:cNvSpPr/>
          <p:nvPr/>
        </p:nvSpPr>
        <p:spPr>
          <a:xfrm>
            <a:off x="8183880" y="4297680"/>
            <a:ext cx="2240280" cy="0"/>
          </a:xfrm>
          <a:prstGeom prst="line">
            <a:avLst/>
          </a:prstGeom>
          <a:noFill/>
          <a:ln w="12700">
            <a:solidFill>
              <a:srgbClr val="F97316"/>
            </a:solidFill>
            <a:prstDash val="solid"/>
          </a:ln>
        </p:spPr>
      </p:sp>
      <p:sp>
        <p:nvSpPr>
          <p:cNvPr id="18" name="Text 16"/>
          <p:cNvSpPr/>
          <p:nvPr/>
        </p:nvSpPr>
        <p:spPr>
          <a:xfrm>
            <a:off x="11475720" y="6446520"/>
            <a:ext cx="411480" cy="182880"/>
          </a:xfrm>
          <a:prstGeom prst="rect">
            <a:avLst/>
          </a:prstGeom>
          <a:noFill/>
          <a:ln/>
        </p:spPr>
        <p:txBody>
          <a:bodyPr wrap="square" lIns="0" tIns="0" rIns="0" bIns="0" rtlCol="0" anchor="ctr"/>
          <a:lstStyle/>
          <a:p>
            <a:pPr algn="r" indent="0" marL="0">
              <a:buNone/>
            </a:pPr>
            <a:r>
              <a:rPr lang="en-US" sz="900" dirty="0">
                <a:solidFill>
                  <a:srgbClr val="D6DEE9"/>
                </a:solidFill>
                <a:latin typeface="Aptos" pitchFamily="34" charset="0"/>
                <a:ea typeface="Aptos" pitchFamily="34" charset="-122"/>
                <a:cs typeface="Aptos" pitchFamily="34" charset="-120"/>
              </a:rPr>
              <a:t>01</a:t>
            </a:r>
            <a:endParaRPr lang="en-US" sz="900" dirty="0"/>
          </a:p>
        </p:txBody>
      </p:sp>
      <p:sp>
        <p:nvSpPr>
          <p:cNvPr id="19" name="Text 17"/>
          <p:cNvSpPr/>
          <p:nvPr/>
        </p:nvSpPr>
        <p:spPr>
          <a:xfrm>
            <a:off x="594360" y="6455664"/>
            <a:ext cx="2560320" cy="146304"/>
          </a:xfrm>
          <a:prstGeom prst="rect">
            <a:avLst/>
          </a:prstGeom>
          <a:noFill/>
          <a:ln/>
        </p:spPr>
        <p:txBody>
          <a:bodyPr wrap="square" lIns="0" tIns="0" rIns="0" bIns="0" rtlCol="0" anchor="ctr"/>
          <a:lstStyle/>
          <a:p>
            <a:pPr indent="0" marL="0">
              <a:buNone/>
            </a:pPr>
            <a:r>
              <a:rPr lang="en-US" sz="800" dirty="0">
                <a:solidFill>
                  <a:srgbClr val="D6DEE9"/>
                </a:solidFill>
                <a:latin typeface="Aptos" pitchFamily="34" charset="0"/>
                <a:ea typeface="Aptos" pitchFamily="34" charset="-122"/>
                <a:cs typeface="Aptos" pitchFamily="34" charset="-120"/>
              </a:rPr>
              <a:t>Storytelling for academic talks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9326880" y="-914400"/>
            <a:ext cx="4114800" cy="4114800"/>
          </a:xfrm>
          <a:prstGeom prst="ellipse">
            <a:avLst/>
          </a:prstGeom>
          <a:solidFill>
            <a:srgbClr val="F97316">
              <a:alpha val="8000"/>
            </a:srgbClr>
          </a:solidFill>
          <a:ln w="12700">
            <a:solidFill>
              <a:srgbClr val="F97316">
                <a:alpha val="0"/>
              </a:srgbClr>
            </a:solidFill>
            <a:prstDash val="solid"/>
          </a:ln>
        </p:spPr>
      </p:sp>
      <p:sp>
        <p:nvSpPr>
          <p:cNvPr id="3" name="Shape 1"/>
          <p:cNvSpPr/>
          <p:nvPr/>
        </p:nvSpPr>
        <p:spPr>
          <a:xfrm>
            <a:off x="-914400" y="5120640"/>
            <a:ext cx="4023360" cy="4023360"/>
          </a:xfrm>
          <a:prstGeom prst="ellipse">
            <a:avLst/>
          </a:prstGeom>
          <a:solidFill>
            <a:srgbClr val="14B8A6">
              <a:alpha val="6000"/>
            </a:srgbClr>
          </a:solidFill>
          <a:ln w="12700">
            <a:solidFill>
              <a:srgbClr val="14B8A6">
                <a:alpha val="0"/>
              </a:srgbClr>
            </a:solidFill>
            <a:prstDash val="solid"/>
          </a:ln>
        </p:spPr>
      </p:sp>
      <p:sp>
        <p:nvSpPr>
          <p:cNvPr id="4" name="Shape 2"/>
          <p:cNvSpPr/>
          <p:nvPr/>
        </p:nvSpPr>
        <p:spPr>
          <a:xfrm>
            <a:off x="0" y="0"/>
            <a:ext cx="12191695" cy="73152"/>
          </a:xfrm>
          <a:prstGeom prst="rect">
            <a:avLst/>
          </a:prstGeom>
          <a:solidFill>
            <a:srgbClr val="F97316">
              <a:alpha val="80000"/>
            </a:srgbClr>
          </a:solidFill>
          <a:ln w="12700">
            <a:solidFill>
              <a:srgbClr val="F97316">
                <a:alpha val="0"/>
              </a:srgbClr>
            </a:solidFill>
            <a:prstDash val="solid"/>
          </a:ln>
        </p:spPr>
      </p:sp>
      <p:sp>
        <p:nvSpPr>
          <p:cNvPr id="5" name="Text 3"/>
          <p:cNvSpPr/>
          <p:nvPr/>
        </p:nvSpPr>
        <p:spPr>
          <a:xfrm>
            <a:off x="658368" y="420624"/>
            <a:ext cx="2560320" cy="182880"/>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THE CORE STRUCTURE</a:t>
            </a:r>
            <a:endParaRPr lang="en-US" sz="1000" dirty="0"/>
          </a:p>
        </p:txBody>
      </p:sp>
      <p:sp>
        <p:nvSpPr>
          <p:cNvPr id="6" name="Text 4"/>
          <p:cNvSpPr/>
          <p:nvPr/>
        </p:nvSpPr>
        <p:spPr>
          <a:xfrm>
            <a:off x="621792" y="694944"/>
            <a:ext cx="7863840" cy="713232"/>
          </a:xfrm>
          <a:prstGeom prst="rect">
            <a:avLst/>
          </a:prstGeom>
          <a:noFill/>
          <a:ln/>
        </p:spPr>
        <p:txBody>
          <a:bodyPr wrap="square" lIns="0" tIns="0" rIns="0" bIns="0" rtlCol="0" anchor="ctr">
            <a:normAutofit/>
          </a:bodyPr>
          <a:lstStyle/>
          <a:p>
            <a:pPr indent="0" marL="0">
              <a:buNone/>
            </a:pPr>
            <a:r>
              <a:rPr lang="en-US" sz="2400" b="1" dirty="0">
                <a:solidFill>
                  <a:srgbClr val="1F2937"/>
                </a:solidFill>
                <a:latin typeface="Aptos Display" pitchFamily="34" charset="0"/>
                <a:ea typeface="Aptos Display" pitchFamily="34" charset="-122"/>
                <a:cs typeface="Aptos Display" pitchFamily="34" charset="-120"/>
              </a:rPr>
              <a:t>Start with conflict, not chronology</a:t>
            </a:r>
            <a:endParaRPr lang="en-US" sz="2400" dirty="0"/>
          </a:p>
        </p:txBody>
      </p:sp>
      <p:sp>
        <p:nvSpPr>
          <p:cNvPr id="7" name="Text 5"/>
          <p:cNvSpPr/>
          <p:nvPr/>
        </p:nvSpPr>
        <p:spPr>
          <a:xfrm>
            <a:off x="658368" y="1417320"/>
            <a:ext cx="8138160" cy="347472"/>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The ABT pattern keeps the talk moving: context, tension, resolution.</a:t>
            </a:r>
            <a:endParaRPr lang="en-US" sz="1300" dirty="0"/>
          </a:p>
        </p:txBody>
      </p:sp>
      <p:sp>
        <p:nvSpPr>
          <p:cNvPr id="8" name="Shape 6"/>
          <p:cNvSpPr/>
          <p:nvPr/>
        </p:nvSpPr>
        <p:spPr>
          <a:xfrm>
            <a:off x="658368" y="1810512"/>
            <a:ext cx="3520440" cy="1417320"/>
          </a:xfrm>
          <a:prstGeom prst="roundRect">
            <a:avLst>
              <a:gd name="adj" fmla="val 3871"/>
            </a:avLst>
          </a:prstGeom>
          <a:solidFill>
            <a:srgbClr val="FFF8EE"/>
          </a:solidFill>
          <a:ln w="12700">
            <a:solidFill>
              <a:srgbClr val="E7E1D6"/>
            </a:solidFill>
            <a:prstDash val="solid"/>
          </a:ln>
        </p:spPr>
      </p:sp>
      <p:sp>
        <p:nvSpPr>
          <p:cNvPr id="9" name="Text 7"/>
          <p:cNvSpPr/>
          <p:nvPr/>
        </p:nvSpPr>
        <p:spPr>
          <a:xfrm>
            <a:off x="822960" y="1929384"/>
            <a:ext cx="658368" cy="164592"/>
          </a:xfrm>
          <a:prstGeom prst="rect">
            <a:avLst/>
          </a:prstGeom>
          <a:noFill/>
          <a:ln/>
        </p:spPr>
        <p:txBody>
          <a:bodyPr wrap="square" lIns="0" tIns="0" rIns="0" bIns="0" rtlCol="0" anchor="ctr"/>
          <a:lstStyle/>
          <a:p>
            <a:pPr indent="0" marL="0">
              <a:buNone/>
            </a:pPr>
            <a:r>
              <a:rPr lang="en-US" sz="900" b="1" dirty="0">
                <a:solidFill>
                  <a:srgbClr val="F97316"/>
                </a:solidFill>
                <a:latin typeface="Aptos" pitchFamily="34" charset="0"/>
                <a:ea typeface="Aptos" pitchFamily="34" charset="-122"/>
                <a:cs typeface="Aptos" pitchFamily="34" charset="-120"/>
              </a:rPr>
              <a:t>AND</a:t>
            </a:r>
            <a:endParaRPr lang="en-US" sz="900" dirty="0"/>
          </a:p>
        </p:txBody>
      </p:sp>
      <p:sp>
        <p:nvSpPr>
          <p:cNvPr id="10" name="Text 8"/>
          <p:cNvSpPr/>
          <p:nvPr/>
        </p:nvSpPr>
        <p:spPr>
          <a:xfrm>
            <a:off x="822960" y="2093976"/>
            <a:ext cx="3108960" cy="256032"/>
          </a:xfrm>
          <a:prstGeom prst="rect">
            <a:avLst/>
          </a:prstGeom>
          <a:noFill/>
          <a:ln/>
        </p:spPr>
        <p:txBody>
          <a:bodyPr wrap="square" lIns="0" tIns="0" rIns="0" bIns="0" rtlCol="0" anchor="ctr"/>
          <a:lstStyle/>
          <a:p>
            <a:pPr indent="0" marL="0">
              <a:buNone/>
            </a:pPr>
            <a:r>
              <a:rPr lang="en-US" sz="1700" b="1" dirty="0">
                <a:solidFill>
                  <a:srgbClr val="1F2937"/>
                </a:solidFill>
                <a:latin typeface="Aptos Display" pitchFamily="34" charset="0"/>
                <a:ea typeface="Aptos Display" pitchFamily="34" charset="-122"/>
                <a:cs typeface="Aptos Display" pitchFamily="34" charset="-120"/>
              </a:rPr>
              <a:t>Context</a:t>
            </a:r>
            <a:endParaRPr lang="en-US" sz="1700" dirty="0"/>
          </a:p>
        </p:txBody>
      </p:sp>
      <p:sp>
        <p:nvSpPr>
          <p:cNvPr id="11" name="Text 9"/>
          <p:cNvSpPr/>
          <p:nvPr/>
        </p:nvSpPr>
        <p:spPr>
          <a:xfrm>
            <a:off x="822960" y="2395728"/>
            <a:ext cx="3127248" cy="548640"/>
          </a:xfrm>
          <a:prstGeom prst="rect">
            <a:avLst/>
          </a:prstGeom>
          <a:noFill/>
          <a:ln/>
        </p:spPr>
        <p:txBody>
          <a:bodyPr wrap="square" lIns="0" tIns="0" rIns="0" bIns="0" rtlCol="0" anchor="ctr">
            <a:normAutofit/>
          </a:bodyPr>
          <a:lstStyle/>
          <a:p>
            <a:pPr indent="0" marL="0">
              <a:buNone/>
            </a:pPr>
            <a:r>
              <a:rPr lang="en-US" sz="1100" dirty="0">
                <a:solidFill>
                  <a:srgbClr val="64748B"/>
                </a:solidFill>
                <a:latin typeface="Aptos" pitchFamily="34" charset="0"/>
                <a:ea typeface="Aptos" pitchFamily="34" charset="-122"/>
                <a:cs typeface="Aptos" pitchFamily="34" charset="-120"/>
              </a:rPr>
              <a:t>Set the scene. Show what is already known and what the audience can agree on.</a:t>
            </a:r>
            <a:endParaRPr lang="en-US" sz="1100" dirty="0"/>
          </a:p>
        </p:txBody>
      </p:sp>
      <p:sp>
        <p:nvSpPr>
          <p:cNvPr id="12" name="Shape 10"/>
          <p:cNvSpPr/>
          <p:nvPr/>
        </p:nvSpPr>
        <p:spPr>
          <a:xfrm>
            <a:off x="4343400" y="1810512"/>
            <a:ext cx="3520440" cy="1417320"/>
          </a:xfrm>
          <a:prstGeom prst="roundRect">
            <a:avLst>
              <a:gd name="adj" fmla="val 3871"/>
            </a:avLst>
          </a:prstGeom>
          <a:solidFill>
            <a:srgbClr val="EEF8F6"/>
          </a:solidFill>
          <a:ln w="12700">
            <a:solidFill>
              <a:srgbClr val="E7E1D6"/>
            </a:solidFill>
            <a:prstDash val="solid"/>
          </a:ln>
        </p:spPr>
      </p:sp>
      <p:sp>
        <p:nvSpPr>
          <p:cNvPr id="13" name="Text 11"/>
          <p:cNvSpPr/>
          <p:nvPr/>
        </p:nvSpPr>
        <p:spPr>
          <a:xfrm>
            <a:off x="4507992" y="1929384"/>
            <a:ext cx="658368" cy="164592"/>
          </a:xfrm>
          <a:prstGeom prst="rect">
            <a:avLst/>
          </a:prstGeom>
          <a:noFill/>
          <a:ln/>
        </p:spPr>
        <p:txBody>
          <a:bodyPr wrap="square" lIns="0" tIns="0" rIns="0" bIns="0" rtlCol="0" anchor="ctr"/>
          <a:lstStyle/>
          <a:p>
            <a:pPr indent="0" marL="0">
              <a:buNone/>
            </a:pPr>
            <a:r>
              <a:rPr lang="en-US" sz="900" b="1" dirty="0">
                <a:solidFill>
                  <a:srgbClr val="F97316"/>
                </a:solidFill>
                <a:latin typeface="Aptos" pitchFamily="34" charset="0"/>
                <a:ea typeface="Aptos" pitchFamily="34" charset="-122"/>
                <a:cs typeface="Aptos" pitchFamily="34" charset="-120"/>
              </a:rPr>
              <a:t>BUT</a:t>
            </a:r>
            <a:endParaRPr lang="en-US" sz="900" dirty="0"/>
          </a:p>
        </p:txBody>
      </p:sp>
      <p:sp>
        <p:nvSpPr>
          <p:cNvPr id="14" name="Text 12"/>
          <p:cNvSpPr/>
          <p:nvPr/>
        </p:nvSpPr>
        <p:spPr>
          <a:xfrm>
            <a:off x="4507992" y="2093976"/>
            <a:ext cx="3108960" cy="256032"/>
          </a:xfrm>
          <a:prstGeom prst="rect">
            <a:avLst/>
          </a:prstGeom>
          <a:noFill/>
          <a:ln/>
        </p:spPr>
        <p:txBody>
          <a:bodyPr wrap="square" lIns="0" tIns="0" rIns="0" bIns="0" rtlCol="0" anchor="ctr"/>
          <a:lstStyle/>
          <a:p>
            <a:pPr indent="0" marL="0">
              <a:buNone/>
            </a:pPr>
            <a:r>
              <a:rPr lang="en-US" sz="1700" b="1" dirty="0">
                <a:solidFill>
                  <a:srgbClr val="1F2937"/>
                </a:solidFill>
                <a:latin typeface="Aptos Display" pitchFamily="34" charset="0"/>
                <a:ea typeface="Aptos Display" pitchFamily="34" charset="-122"/>
                <a:cs typeface="Aptos Display" pitchFamily="34" charset="-120"/>
              </a:rPr>
              <a:t>Conflict</a:t>
            </a:r>
            <a:endParaRPr lang="en-US" sz="1700" dirty="0"/>
          </a:p>
        </p:txBody>
      </p:sp>
      <p:sp>
        <p:nvSpPr>
          <p:cNvPr id="15" name="Text 13"/>
          <p:cNvSpPr/>
          <p:nvPr/>
        </p:nvSpPr>
        <p:spPr>
          <a:xfrm>
            <a:off x="4507992" y="2395728"/>
            <a:ext cx="3127248" cy="548640"/>
          </a:xfrm>
          <a:prstGeom prst="rect">
            <a:avLst/>
          </a:prstGeom>
          <a:noFill/>
          <a:ln/>
        </p:spPr>
        <p:txBody>
          <a:bodyPr wrap="square" lIns="0" tIns="0" rIns="0" bIns="0" rtlCol="0" anchor="ctr">
            <a:normAutofit/>
          </a:bodyPr>
          <a:lstStyle/>
          <a:p>
            <a:pPr indent="0" marL="0">
              <a:buNone/>
            </a:pPr>
            <a:r>
              <a:rPr lang="en-US" sz="1100" dirty="0">
                <a:solidFill>
                  <a:srgbClr val="64748B"/>
                </a:solidFill>
                <a:latin typeface="Aptos" pitchFamily="34" charset="0"/>
                <a:ea typeface="Aptos" pitchFamily="34" charset="-122"/>
                <a:cs typeface="Aptos" pitchFamily="34" charset="-120"/>
              </a:rPr>
              <a:t>Introduce the gap, contradiction, or problem that creates curiosity.</a:t>
            </a:r>
            <a:endParaRPr lang="en-US" sz="1100" dirty="0"/>
          </a:p>
        </p:txBody>
      </p:sp>
      <p:sp>
        <p:nvSpPr>
          <p:cNvPr id="16" name="Shape 14"/>
          <p:cNvSpPr/>
          <p:nvPr/>
        </p:nvSpPr>
        <p:spPr>
          <a:xfrm>
            <a:off x="8028432" y="1810512"/>
            <a:ext cx="3520440" cy="1417320"/>
          </a:xfrm>
          <a:prstGeom prst="roundRect">
            <a:avLst>
              <a:gd name="adj" fmla="val 3871"/>
            </a:avLst>
          </a:prstGeom>
          <a:solidFill>
            <a:srgbClr val="FFF2F2"/>
          </a:solidFill>
          <a:ln w="12700">
            <a:solidFill>
              <a:srgbClr val="E7E1D6"/>
            </a:solidFill>
            <a:prstDash val="solid"/>
          </a:ln>
        </p:spPr>
      </p:sp>
      <p:sp>
        <p:nvSpPr>
          <p:cNvPr id="17" name="Text 15"/>
          <p:cNvSpPr/>
          <p:nvPr/>
        </p:nvSpPr>
        <p:spPr>
          <a:xfrm>
            <a:off x="8193024" y="1929384"/>
            <a:ext cx="658368" cy="164592"/>
          </a:xfrm>
          <a:prstGeom prst="rect">
            <a:avLst/>
          </a:prstGeom>
          <a:noFill/>
          <a:ln/>
        </p:spPr>
        <p:txBody>
          <a:bodyPr wrap="square" lIns="0" tIns="0" rIns="0" bIns="0" rtlCol="0" anchor="ctr"/>
          <a:lstStyle/>
          <a:p>
            <a:pPr indent="0" marL="0">
              <a:buNone/>
            </a:pPr>
            <a:r>
              <a:rPr lang="en-US" sz="900" b="1" dirty="0">
                <a:solidFill>
                  <a:srgbClr val="F97316"/>
                </a:solidFill>
                <a:latin typeface="Aptos" pitchFamily="34" charset="0"/>
                <a:ea typeface="Aptos" pitchFamily="34" charset="-122"/>
                <a:cs typeface="Aptos" pitchFamily="34" charset="-120"/>
              </a:rPr>
              <a:t>THEREFORE</a:t>
            </a:r>
            <a:endParaRPr lang="en-US" sz="900" dirty="0"/>
          </a:p>
        </p:txBody>
      </p:sp>
      <p:sp>
        <p:nvSpPr>
          <p:cNvPr id="18" name="Text 16"/>
          <p:cNvSpPr/>
          <p:nvPr/>
        </p:nvSpPr>
        <p:spPr>
          <a:xfrm>
            <a:off x="8193024" y="2093976"/>
            <a:ext cx="3108960" cy="256032"/>
          </a:xfrm>
          <a:prstGeom prst="rect">
            <a:avLst/>
          </a:prstGeom>
          <a:noFill/>
          <a:ln/>
        </p:spPr>
        <p:txBody>
          <a:bodyPr wrap="square" lIns="0" tIns="0" rIns="0" bIns="0" rtlCol="0" anchor="ctr"/>
          <a:lstStyle/>
          <a:p>
            <a:pPr indent="0" marL="0">
              <a:buNone/>
            </a:pPr>
            <a:r>
              <a:rPr lang="en-US" sz="1700" b="1" dirty="0">
                <a:solidFill>
                  <a:srgbClr val="1F2937"/>
                </a:solidFill>
                <a:latin typeface="Aptos Display" pitchFamily="34" charset="0"/>
                <a:ea typeface="Aptos Display" pitchFamily="34" charset="-122"/>
                <a:cs typeface="Aptos Display" pitchFamily="34" charset="-120"/>
              </a:rPr>
              <a:t>Resolution</a:t>
            </a:r>
            <a:endParaRPr lang="en-US" sz="1700" dirty="0"/>
          </a:p>
        </p:txBody>
      </p:sp>
      <p:sp>
        <p:nvSpPr>
          <p:cNvPr id="19" name="Text 17"/>
          <p:cNvSpPr/>
          <p:nvPr/>
        </p:nvSpPr>
        <p:spPr>
          <a:xfrm>
            <a:off x="8193024" y="2395728"/>
            <a:ext cx="3127248" cy="548640"/>
          </a:xfrm>
          <a:prstGeom prst="rect">
            <a:avLst/>
          </a:prstGeom>
          <a:noFill/>
          <a:ln/>
        </p:spPr>
        <p:txBody>
          <a:bodyPr wrap="square" lIns="0" tIns="0" rIns="0" bIns="0" rtlCol="0" anchor="ctr">
            <a:normAutofit/>
          </a:bodyPr>
          <a:lstStyle/>
          <a:p>
            <a:pPr indent="0" marL="0">
              <a:buNone/>
            </a:pPr>
            <a:r>
              <a:rPr lang="en-US" sz="1100" dirty="0">
                <a:solidFill>
                  <a:srgbClr val="64748B"/>
                </a:solidFill>
                <a:latin typeface="Aptos" pitchFamily="34" charset="0"/>
                <a:ea typeface="Aptos" pitchFamily="34" charset="-122"/>
                <a:cs typeface="Aptos" pitchFamily="34" charset="-120"/>
              </a:rPr>
              <a:t>Show the method, result, and the implication that answers the question.</a:t>
            </a:r>
            <a:endParaRPr lang="en-US" sz="1100" dirty="0"/>
          </a:p>
        </p:txBody>
      </p:sp>
      <p:sp>
        <p:nvSpPr>
          <p:cNvPr id="20" name="Shape 18"/>
          <p:cNvSpPr/>
          <p:nvPr/>
        </p:nvSpPr>
        <p:spPr>
          <a:xfrm>
            <a:off x="4178808" y="2505456"/>
            <a:ext cx="128016" cy="0"/>
          </a:xfrm>
          <a:prstGeom prst="line">
            <a:avLst/>
          </a:prstGeom>
          <a:noFill/>
          <a:ln w="12700">
            <a:solidFill>
              <a:srgbClr val="64748B"/>
            </a:solidFill>
            <a:prstDash val="solid"/>
          </a:ln>
        </p:spPr>
      </p:sp>
      <p:sp>
        <p:nvSpPr>
          <p:cNvPr id="21" name="Shape 19"/>
          <p:cNvSpPr/>
          <p:nvPr/>
        </p:nvSpPr>
        <p:spPr>
          <a:xfrm>
            <a:off x="7863840" y="2505456"/>
            <a:ext cx="128016" cy="0"/>
          </a:xfrm>
          <a:prstGeom prst="line">
            <a:avLst/>
          </a:prstGeom>
          <a:noFill/>
          <a:ln w="12700">
            <a:solidFill>
              <a:srgbClr val="64748B"/>
            </a:solidFill>
            <a:prstDash val="solid"/>
          </a:ln>
        </p:spPr>
      </p:sp>
      <p:sp>
        <p:nvSpPr>
          <p:cNvPr id="22" name="Shape 20"/>
          <p:cNvSpPr/>
          <p:nvPr/>
        </p:nvSpPr>
        <p:spPr>
          <a:xfrm>
            <a:off x="3566160" y="3703320"/>
            <a:ext cx="5532120" cy="0"/>
          </a:xfrm>
          <a:prstGeom prst="line">
            <a:avLst/>
          </a:prstGeom>
          <a:noFill/>
          <a:ln w="12700">
            <a:solidFill>
              <a:srgbClr val="E7E1D6"/>
            </a:solidFill>
            <a:prstDash val="solid"/>
          </a:ln>
        </p:spPr>
      </p:sp>
      <p:sp>
        <p:nvSpPr>
          <p:cNvPr id="23" name="Shape 21"/>
          <p:cNvSpPr/>
          <p:nvPr/>
        </p:nvSpPr>
        <p:spPr>
          <a:xfrm>
            <a:off x="1316736" y="3886200"/>
            <a:ext cx="868680" cy="329184"/>
          </a:xfrm>
          <a:prstGeom prst="roundRect">
            <a:avLst>
              <a:gd name="adj" fmla="val 19444"/>
            </a:avLst>
          </a:prstGeom>
          <a:solidFill>
            <a:srgbClr val="14B8A6"/>
          </a:solidFill>
          <a:ln w="12700">
            <a:solidFill>
              <a:srgbClr val="14B8A6">
                <a:alpha val="0"/>
              </a:srgbClr>
            </a:solidFill>
            <a:prstDash val="solid"/>
          </a:ln>
        </p:spPr>
      </p:sp>
      <p:sp>
        <p:nvSpPr>
          <p:cNvPr id="24" name="Text 22"/>
          <p:cNvSpPr/>
          <p:nvPr/>
        </p:nvSpPr>
        <p:spPr>
          <a:xfrm>
            <a:off x="1316736" y="3913632"/>
            <a:ext cx="868680"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Context</a:t>
            </a:r>
            <a:endParaRPr lang="en-US" sz="1000" dirty="0"/>
          </a:p>
        </p:txBody>
      </p:sp>
      <p:sp>
        <p:nvSpPr>
          <p:cNvPr id="25" name="Shape 23"/>
          <p:cNvSpPr/>
          <p:nvPr/>
        </p:nvSpPr>
        <p:spPr>
          <a:xfrm>
            <a:off x="5623560" y="3886200"/>
            <a:ext cx="914400" cy="329184"/>
          </a:xfrm>
          <a:prstGeom prst="roundRect">
            <a:avLst>
              <a:gd name="adj" fmla="val 19444"/>
            </a:avLst>
          </a:prstGeom>
          <a:solidFill>
            <a:srgbClr val="F97316"/>
          </a:solidFill>
          <a:ln w="12700">
            <a:solidFill>
              <a:srgbClr val="F97316">
                <a:alpha val="0"/>
              </a:srgbClr>
            </a:solidFill>
            <a:prstDash val="solid"/>
          </a:ln>
        </p:spPr>
      </p:sp>
      <p:sp>
        <p:nvSpPr>
          <p:cNvPr id="26" name="Text 24"/>
          <p:cNvSpPr/>
          <p:nvPr/>
        </p:nvSpPr>
        <p:spPr>
          <a:xfrm>
            <a:off x="5623560" y="3913632"/>
            <a:ext cx="914400"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Tension</a:t>
            </a:r>
            <a:endParaRPr lang="en-US" sz="1000" dirty="0"/>
          </a:p>
        </p:txBody>
      </p:sp>
      <p:sp>
        <p:nvSpPr>
          <p:cNvPr id="27" name="Shape 25"/>
          <p:cNvSpPr/>
          <p:nvPr/>
        </p:nvSpPr>
        <p:spPr>
          <a:xfrm>
            <a:off x="9564624" y="3886200"/>
            <a:ext cx="1051560" cy="329184"/>
          </a:xfrm>
          <a:prstGeom prst="roundRect">
            <a:avLst>
              <a:gd name="adj" fmla="val 19444"/>
            </a:avLst>
          </a:prstGeom>
          <a:solidFill>
            <a:srgbClr val="F4B942"/>
          </a:solidFill>
          <a:ln w="12700">
            <a:solidFill>
              <a:srgbClr val="F4B942">
                <a:alpha val="0"/>
              </a:srgbClr>
            </a:solidFill>
            <a:prstDash val="solid"/>
          </a:ln>
        </p:spPr>
      </p:sp>
      <p:sp>
        <p:nvSpPr>
          <p:cNvPr id="28" name="Text 26"/>
          <p:cNvSpPr/>
          <p:nvPr/>
        </p:nvSpPr>
        <p:spPr>
          <a:xfrm>
            <a:off x="9564624" y="3913632"/>
            <a:ext cx="1051560" cy="201168"/>
          </a:xfrm>
          <a:prstGeom prst="rect">
            <a:avLst/>
          </a:prstGeom>
          <a:noFill/>
          <a:ln/>
        </p:spPr>
        <p:txBody>
          <a:bodyPr wrap="square" lIns="0" tIns="0" rIns="0" bIns="0" rtlCol="0" anchor="ctr"/>
          <a:lstStyle/>
          <a:p>
            <a:pPr algn="ctr" indent="0" marL="0">
              <a:buNone/>
            </a:pPr>
            <a:r>
              <a:rPr lang="en-US" sz="1000" b="1" dirty="0">
                <a:solidFill>
                  <a:srgbClr val="0B1220"/>
                </a:solidFill>
                <a:latin typeface="Aptos" pitchFamily="34" charset="0"/>
                <a:ea typeface="Aptos" pitchFamily="34" charset="-122"/>
                <a:cs typeface="Aptos" pitchFamily="34" charset="-120"/>
              </a:rPr>
              <a:t>Resolution</a:t>
            </a:r>
            <a:endParaRPr lang="en-US" sz="1000" dirty="0"/>
          </a:p>
        </p:txBody>
      </p:sp>
      <p:sp>
        <p:nvSpPr>
          <p:cNvPr id="29" name="Text 27"/>
          <p:cNvSpPr/>
          <p:nvPr/>
        </p:nvSpPr>
        <p:spPr>
          <a:xfrm>
            <a:off x="1920240" y="4754880"/>
            <a:ext cx="8412480" cy="310896"/>
          </a:xfrm>
          <a:prstGeom prst="rect">
            <a:avLst/>
          </a:prstGeom>
          <a:noFill/>
          <a:ln/>
        </p:spPr>
        <p:txBody>
          <a:bodyPr wrap="square" lIns="0" tIns="0" rIns="0" bIns="0" rtlCol="0" anchor="ctr"/>
          <a:lstStyle/>
          <a:p>
            <a:pPr algn="ctr" indent="0" marL="0">
              <a:buNone/>
            </a:pPr>
            <a:r>
              <a:rPr lang="en-US" sz="1600" b="1" dirty="0">
                <a:solidFill>
                  <a:srgbClr val="1F2937"/>
                </a:solidFill>
                <a:latin typeface="Aptos Display" pitchFamily="34" charset="0"/>
                <a:ea typeface="Aptos Display" pitchFamily="34" charset="-122"/>
                <a:cs typeface="Aptos Display" pitchFamily="34" charset="-120"/>
              </a:rPr>
              <a:t>Good talks create a question in the audience, then pay it off.</a:t>
            </a:r>
            <a:endParaRPr lang="en-US" sz="1600" dirty="0"/>
          </a:p>
        </p:txBody>
      </p:sp>
      <p:sp>
        <p:nvSpPr>
          <p:cNvPr id="30" name="Text 28"/>
          <p:cNvSpPr/>
          <p:nvPr/>
        </p:nvSpPr>
        <p:spPr>
          <a:xfrm>
            <a:off x="11475720" y="6446520"/>
            <a:ext cx="411480" cy="182880"/>
          </a:xfrm>
          <a:prstGeom prst="rect">
            <a:avLst/>
          </a:prstGeom>
          <a:noFill/>
          <a:ln/>
        </p:spPr>
        <p:txBody>
          <a:bodyPr wrap="square" lIns="0" tIns="0" rIns="0" bIns="0" rtlCol="0" anchor="ctr"/>
          <a:lstStyle/>
          <a:p>
            <a:pPr algn="r" indent="0" marL="0">
              <a:buNone/>
            </a:pPr>
            <a:r>
              <a:rPr lang="en-US" sz="900" dirty="0">
                <a:solidFill>
                  <a:srgbClr val="64748B"/>
                </a:solidFill>
                <a:latin typeface="Aptos" pitchFamily="34" charset="0"/>
                <a:ea typeface="Aptos" pitchFamily="34" charset="-122"/>
                <a:cs typeface="Aptos" pitchFamily="34" charset="-120"/>
              </a:rPr>
              <a:t>02</a:t>
            </a:r>
            <a:endParaRPr lang="en-US" sz="900" dirty="0"/>
          </a:p>
        </p:txBody>
      </p:sp>
      <p:sp>
        <p:nvSpPr>
          <p:cNvPr id="31" name="Text 29"/>
          <p:cNvSpPr/>
          <p:nvPr/>
        </p:nvSpPr>
        <p:spPr>
          <a:xfrm>
            <a:off x="594360" y="6455664"/>
            <a:ext cx="2560320" cy="146304"/>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Storytelling for academic talks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9326880" y="-914400"/>
            <a:ext cx="4114800" cy="4114800"/>
          </a:xfrm>
          <a:prstGeom prst="ellipse">
            <a:avLst/>
          </a:prstGeom>
          <a:solidFill>
            <a:srgbClr val="F97316">
              <a:alpha val="8000"/>
            </a:srgbClr>
          </a:solidFill>
          <a:ln w="12700">
            <a:solidFill>
              <a:srgbClr val="F97316">
                <a:alpha val="0"/>
              </a:srgbClr>
            </a:solidFill>
            <a:prstDash val="solid"/>
          </a:ln>
        </p:spPr>
      </p:sp>
      <p:sp>
        <p:nvSpPr>
          <p:cNvPr id="3" name="Shape 1"/>
          <p:cNvSpPr/>
          <p:nvPr/>
        </p:nvSpPr>
        <p:spPr>
          <a:xfrm>
            <a:off x="-914400" y="5120640"/>
            <a:ext cx="4023360" cy="4023360"/>
          </a:xfrm>
          <a:prstGeom prst="ellipse">
            <a:avLst/>
          </a:prstGeom>
          <a:solidFill>
            <a:srgbClr val="14B8A6">
              <a:alpha val="6000"/>
            </a:srgbClr>
          </a:solidFill>
          <a:ln w="12700">
            <a:solidFill>
              <a:srgbClr val="14B8A6">
                <a:alpha val="0"/>
              </a:srgbClr>
            </a:solidFill>
            <a:prstDash val="solid"/>
          </a:ln>
        </p:spPr>
      </p:sp>
      <p:sp>
        <p:nvSpPr>
          <p:cNvPr id="4" name="Shape 2"/>
          <p:cNvSpPr/>
          <p:nvPr/>
        </p:nvSpPr>
        <p:spPr>
          <a:xfrm>
            <a:off x="0" y="0"/>
            <a:ext cx="12191695" cy="73152"/>
          </a:xfrm>
          <a:prstGeom prst="rect">
            <a:avLst/>
          </a:prstGeom>
          <a:solidFill>
            <a:srgbClr val="F97316">
              <a:alpha val="80000"/>
            </a:srgbClr>
          </a:solidFill>
          <a:ln w="12700">
            <a:solidFill>
              <a:srgbClr val="F97316">
                <a:alpha val="0"/>
              </a:srgbClr>
            </a:solidFill>
            <a:prstDash val="solid"/>
          </a:ln>
        </p:spPr>
      </p:sp>
      <p:sp>
        <p:nvSpPr>
          <p:cNvPr id="5" name="Text 3"/>
          <p:cNvSpPr/>
          <p:nvPr/>
        </p:nvSpPr>
        <p:spPr>
          <a:xfrm>
            <a:off x="658368" y="420624"/>
            <a:ext cx="2560320" cy="182880"/>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HOOK THE ROOM FAST</a:t>
            </a:r>
            <a:endParaRPr lang="en-US" sz="1000" dirty="0"/>
          </a:p>
        </p:txBody>
      </p:sp>
      <p:sp>
        <p:nvSpPr>
          <p:cNvPr id="6" name="Text 4"/>
          <p:cNvSpPr/>
          <p:nvPr/>
        </p:nvSpPr>
        <p:spPr>
          <a:xfrm>
            <a:off x="621792" y="694944"/>
            <a:ext cx="7863840" cy="713232"/>
          </a:xfrm>
          <a:prstGeom prst="rect">
            <a:avLst/>
          </a:prstGeom>
          <a:noFill/>
          <a:ln/>
        </p:spPr>
        <p:txBody>
          <a:bodyPr wrap="square" lIns="0" tIns="0" rIns="0" bIns="0" rtlCol="0" anchor="ctr">
            <a:normAutofit/>
          </a:bodyPr>
          <a:lstStyle/>
          <a:p>
            <a:pPr indent="0" marL="0">
              <a:buNone/>
            </a:pPr>
            <a:r>
              <a:rPr lang="en-US" sz="2400" b="1" dirty="0">
                <a:solidFill>
                  <a:srgbClr val="1F2937"/>
                </a:solidFill>
                <a:latin typeface="Aptos Display" pitchFamily="34" charset="0"/>
                <a:ea typeface="Aptos Display" pitchFamily="34" charset="-122"/>
                <a:cs typeface="Aptos Display" pitchFamily="34" charset="-120"/>
              </a:rPr>
              <a:t>The first 60 seconds decide everything</a:t>
            </a:r>
            <a:endParaRPr lang="en-US" sz="2400" dirty="0"/>
          </a:p>
        </p:txBody>
      </p:sp>
      <p:sp>
        <p:nvSpPr>
          <p:cNvPr id="7" name="Text 5"/>
          <p:cNvSpPr/>
          <p:nvPr/>
        </p:nvSpPr>
        <p:spPr>
          <a:xfrm>
            <a:off x="658368" y="1417320"/>
            <a:ext cx="8138160" cy="347472"/>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Open with a question, a surprise, or an immersive prompt.</a:t>
            </a:r>
            <a:endParaRPr lang="en-US" sz="1300" dirty="0"/>
          </a:p>
        </p:txBody>
      </p:sp>
      <p:sp>
        <p:nvSpPr>
          <p:cNvPr id="8" name="Shape 6"/>
          <p:cNvSpPr/>
          <p:nvPr/>
        </p:nvSpPr>
        <p:spPr>
          <a:xfrm>
            <a:off x="841248" y="1874520"/>
            <a:ext cx="1828800" cy="1828800"/>
          </a:xfrm>
          <a:prstGeom prst="ellipse">
            <a:avLst/>
          </a:prstGeom>
          <a:solidFill>
            <a:srgbClr val="FFFFFF">
              <a:alpha val="0"/>
            </a:srgbClr>
          </a:solidFill>
          <a:ln w="12700">
            <a:solidFill>
              <a:srgbClr val="F97316"/>
            </a:solidFill>
            <a:prstDash val="solid"/>
          </a:ln>
        </p:spPr>
      </p:sp>
      <p:sp>
        <p:nvSpPr>
          <p:cNvPr id="9" name="Text 7"/>
          <p:cNvSpPr/>
          <p:nvPr/>
        </p:nvSpPr>
        <p:spPr>
          <a:xfrm>
            <a:off x="1097280" y="2267712"/>
            <a:ext cx="1325880" cy="512064"/>
          </a:xfrm>
          <a:prstGeom prst="rect">
            <a:avLst/>
          </a:prstGeom>
          <a:noFill/>
          <a:ln/>
        </p:spPr>
        <p:txBody>
          <a:bodyPr wrap="square" lIns="0" tIns="0" rIns="0" bIns="0" rtlCol="0" anchor="ctr"/>
          <a:lstStyle/>
          <a:p>
            <a:pPr algn="ctr" indent="0" marL="0">
              <a:buNone/>
            </a:pPr>
            <a:r>
              <a:rPr lang="en-US" sz="3400" b="1" dirty="0">
                <a:solidFill>
                  <a:srgbClr val="F97316"/>
                </a:solidFill>
                <a:latin typeface="Aptos Display" pitchFamily="34" charset="0"/>
                <a:ea typeface="Aptos Display" pitchFamily="34" charset="-122"/>
                <a:cs typeface="Aptos Display" pitchFamily="34" charset="-120"/>
              </a:rPr>
              <a:t>60</a:t>
            </a:r>
            <a:endParaRPr lang="en-US" sz="3400" dirty="0"/>
          </a:p>
        </p:txBody>
      </p:sp>
      <p:sp>
        <p:nvSpPr>
          <p:cNvPr id="10" name="Text 8"/>
          <p:cNvSpPr/>
          <p:nvPr/>
        </p:nvSpPr>
        <p:spPr>
          <a:xfrm>
            <a:off x="1024128" y="2743200"/>
            <a:ext cx="1463040" cy="219456"/>
          </a:xfrm>
          <a:prstGeom prst="rect">
            <a:avLst/>
          </a:prstGeom>
          <a:noFill/>
          <a:ln/>
        </p:spPr>
        <p:txBody>
          <a:bodyPr wrap="square" lIns="0" tIns="0" rIns="0" bIns="0" rtlCol="0" anchor="ctr"/>
          <a:lstStyle/>
          <a:p>
            <a:pPr algn="ctr" indent="0" marL="0">
              <a:buNone/>
            </a:pPr>
            <a:r>
              <a:rPr lang="en-US" sz="1200" dirty="0">
                <a:solidFill>
                  <a:srgbClr val="64748B"/>
                </a:solidFill>
                <a:latin typeface="Aptos" pitchFamily="34" charset="0"/>
                <a:ea typeface="Aptos" pitchFamily="34" charset="-122"/>
                <a:cs typeface="Aptos" pitchFamily="34" charset="-120"/>
              </a:rPr>
              <a:t>seconds</a:t>
            </a:r>
            <a:endParaRPr lang="en-US" sz="1200" dirty="0"/>
          </a:p>
        </p:txBody>
      </p:sp>
      <p:sp>
        <p:nvSpPr>
          <p:cNvPr id="11" name="Shape 9"/>
          <p:cNvSpPr/>
          <p:nvPr/>
        </p:nvSpPr>
        <p:spPr>
          <a:xfrm>
            <a:off x="3154680" y="1865376"/>
            <a:ext cx="914400" cy="329184"/>
          </a:xfrm>
          <a:prstGeom prst="roundRect">
            <a:avLst>
              <a:gd name="adj" fmla="val 19444"/>
            </a:avLst>
          </a:prstGeom>
          <a:solidFill>
            <a:srgbClr val="14B8A6"/>
          </a:solidFill>
          <a:ln w="12700">
            <a:solidFill>
              <a:srgbClr val="14B8A6">
                <a:alpha val="0"/>
              </a:srgbClr>
            </a:solidFill>
            <a:prstDash val="solid"/>
          </a:ln>
        </p:spPr>
      </p:sp>
      <p:sp>
        <p:nvSpPr>
          <p:cNvPr id="12" name="Text 10"/>
          <p:cNvSpPr/>
          <p:nvPr/>
        </p:nvSpPr>
        <p:spPr>
          <a:xfrm>
            <a:off x="3154680" y="1892808"/>
            <a:ext cx="914400"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Question</a:t>
            </a:r>
            <a:endParaRPr lang="en-US" sz="1000" dirty="0"/>
          </a:p>
        </p:txBody>
      </p:sp>
      <p:sp>
        <p:nvSpPr>
          <p:cNvPr id="13" name="Shape 11"/>
          <p:cNvSpPr/>
          <p:nvPr/>
        </p:nvSpPr>
        <p:spPr>
          <a:xfrm>
            <a:off x="5532120" y="1865376"/>
            <a:ext cx="868680" cy="329184"/>
          </a:xfrm>
          <a:prstGeom prst="roundRect">
            <a:avLst>
              <a:gd name="adj" fmla="val 19444"/>
            </a:avLst>
          </a:prstGeom>
          <a:solidFill>
            <a:srgbClr val="F4B942"/>
          </a:solidFill>
          <a:ln w="12700">
            <a:solidFill>
              <a:srgbClr val="F4B942">
                <a:alpha val="0"/>
              </a:srgbClr>
            </a:solidFill>
            <a:prstDash val="solid"/>
          </a:ln>
        </p:spPr>
      </p:sp>
      <p:sp>
        <p:nvSpPr>
          <p:cNvPr id="14" name="Text 12"/>
          <p:cNvSpPr/>
          <p:nvPr/>
        </p:nvSpPr>
        <p:spPr>
          <a:xfrm>
            <a:off x="5532120" y="1892808"/>
            <a:ext cx="868680" cy="201168"/>
          </a:xfrm>
          <a:prstGeom prst="rect">
            <a:avLst/>
          </a:prstGeom>
          <a:noFill/>
          <a:ln/>
        </p:spPr>
        <p:txBody>
          <a:bodyPr wrap="square" lIns="0" tIns="0" rIns="0" bIns="0" rtlCol="0" anchor="ctr"/>
          <a:lstStyle/>
          <a:p>
            <a:pPr algn="ctr" indent="0" marL="0">
              <a:buNone/>
            </a:pPr>
            <a:r>
              <a:rPr lang="en-US" sz="1000" b="1" dirty="0">
                <a:solidFill>
                  <a:srgbClr val="0B1220"/>
                </a:solidFill>
                <a:latin typeface="Aptos" pitchFamily="34" charset="0"/>
                <a:ea typeface="Aptos" pitchFamily="34" charset="-122"/>
                <a:cs typeface="Aptos" pitchFamily="34" charset="-120"/>
              </a:rPr>
              <a:t>Surprise</a:t>
            </a:r>
            <a:endParaRPr lang="en-US" sz="1000" dirty="0"/>
          </a:p>
        </p:txBody>
      </p:sp>
      <p:sp>
        <p:nvSpPr>
          <p:cNvPr id="15" name="Shape 13"/>
          <p:cNvSpPr/>
          <p:nvPr/>
        </p:nvSpPr>
        <p:spPr>
          <a:xfrm>
            <a:off x="7818120" y="1865376"/>
            <a:ext cx="914400" cy="329184"/>
          </a:xfrm>
          <a:prstGeom prst="roundRect">
            <a:avLst>
              <a:gd name="adj" fmla="val 19444"/>
            </a:avLst>
          </a:prstGeom>
          <a:solidFill>
            <a:srgbClr val="F97316"/>
          </a:solidFill>
          <a:ln w="12700">
            <a:solidFill>
              <a:srgbClr val="F97316">
                <a:alpha val="0"/>
              </a:srgbClr>
            </a:solidFill>
            <a:prstDash val="solid"/>
          </a:ln>
        </p:spPr>
      </p:sp>
      <p:sp>
        <p:nvSpPr>
          <p:cNvPr id="16" name="Text 14"/>
          <p:cNvSpPr/>
          <p:nvPr/>
        </p:nvSpPr>
        <p:spPr>
          <a:xfrm>
            <a:off x="7818120" y="1892808"/>
            <a:ext cx="914400"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Immersion</a:t>
            </a:r>
            <a:endParaRPr lang="en-US" sz="1000" dirty="0"/>
          </a:p>
        </p:txBody>
      </p:sp>
      <p:sp>
        <p:nvSpPr>
          <p:cNvPr id="17" name="Shape 15"/>
          <p:cNvSpPr/>
          <p:nvPr/>
        </p:nvSpPr>
        <p:spPr>
          <a:xfrm>
            <a:off x="3127248" y="2304288"/>
            <a:ext cx="1920240" cy="1600200"/>
          </a:xfrm>
          <a:prstGeom prst="roundRect">
            <a:avLst>
              <a:gd name="adj" fmla="val 4571"/>
            </a:avLst>
          </a:prstGeom>
          <a:solidFill>
            <a:srgbClr val="FFFDF8"/>
          </a:solidFill>
          <a:ln w="12700">
            <a:solidFill>
              <a:srgbClr val="E7E1D6"/>
            </a:solidFill>
            <a:prstDash val="solid"/>
          </a:ln>
        </p:spPr>
      </p:sp>
      <p:sp>
        <p:nvSpPr>
          <p:cNvPr id="18" name="Shape 16"/>
          <p:cNvSpPr/>
          <p:nvPr/>
        </p:nvSpPr>
        <p:spPr>
          <a:xfrm>
            <a:off x="3127248" y="2304288"/>
            <a:ext cx="118872" cy="1600200"/>
          </a:xfrm>
          <a:prstGeom prst="rect">
            <a:avLst/>
          </a:prstGeom>
          <a:solidFill>
            <a:srgbClr val="14B8A6"/>
          </a:solidFill>
          <a:ln w="12700">
            <a:solidFill>
              <a:srgbClr val="14B8A6">
                <a:alpha val="0"/>
              </a:srgbClr>
            </a:solidFill>
            <a:prstDash val="solid"/>
          </a:ln>
        </p:spPr>
      </p:sp>
      <p:sp>
        <p:nvSpPr>
          <p:cNvPr id="19" name="Text 17"/>
          <p:cNvSpPr/>
          <p:nvPr/>
        </p:nvSpPr>
        <p:spPr>
          <a:xfrm>
            <a:off x="3328416" y="2468880"/>
            <a:ext cx="1609344" cy="292608"/>
          </a:xfrm>
          <a:prstGeom prst="rect">
            <a:avLst/>
          </a:prstGeom>
          <a:noFill/>
          <a:ln/>
        </p:spPr>
        <p:txBody>
          <a:bodyPr wrap="square" lIns="0" tIns="0" rIns="0" bIns="0" rtlCol="0" anchor="ctr">
            <a:normAutofit/>
          </a:bodyPr>
          <a:lstStyle/>
          <a:p>
            <a:pPr indent="0" marL="0">
              <a:buNone/>
            </a:pPr>
            <a:r>
              <a:rPr lang="en-US" sz="1800" b="1" dirty="0">
                <a:solidFill>
                  <a:srgbClr val="1F2937"/>
                </a:solidFill>
                <a:latin typeface="Aptos Display" pitchFamily="34" charset="0"/>
                <a:ea typeface="Aptos Display" pitchFamily="34" charset="-122"/>
                <a:cs typeface="Aptos Display" pitchFamily="34" charset="-120"/>
              </a:rPr>
              <a:t>Ask</a:t>
            </a:r>
            <a:endParaRPr lang="en-US" sz="1800" dirty="0"/>
          </a:p>
        </p:txBody>
      </p:sp>
      <p:sp>
        <p:nvSpPr>
          <p:cNvPr id="20" name="Text 18"/>
          <p:cNvSpPr/>
          <p:nvPr/>
        </p:nvSpPr>
        <p:spPr>
          <a:xfrm>
            <a:off x="3328416" y="2834640"/>
            <a:ext cx="1609344" cy="905256"/>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Aptos" pitchFamily="34" charset="0"/>
                <a:ea typeface="Aptos" pitchFamily="34" charset="-122"/>
                <a:cs typeface="Aptos" pitchFamily="34" charset="-120"/>
              </a:rPr>
              <a:t>A sharp question pulls the audience into the problem before they can drift away.</a:t>
            </a:r>
            <a:endParaRPr lang="en-US" sz="1150" dirty="0"/>
          </a:p>
        </p:txBody>
      </p:sp>
      <p:sp>
        <p:nvSpPr>
          <p:cNvPr id="21" name="Shape 19"/>
          <p:cNvSpPr/>
          <p:nvPr/>
        </p:nvSpPr>
        <p:spPr>
          <a:xfrm>
            <a:off x="5413248" y="2304288"/>
            <a:ext cx="1920240" cy="1600200"/>
          </a:xfrm>
          <a:prstGeom prst="roundRect">
            <a:avLst>
              <a:gd name="adj" fmla="val 4571"/>
            </a:avLst>
          </a:prstGeom>
          <a:solidFill>
            <a:srgbClr val="FFFDF8"/>
          </a:solidFill>
          <a:ln w="12700">
            <a:solidFill>
              <a:srgbClr val="E7E1D6"/>
            </a:solidFill>
            <a:prstDash val="solid"/>
          </a:ln>
        </p:spPr>
      </p:sp>
      <p:sp>
        <p:nvSpPr>
          <p:cNvPr id="22" name="Shape 20"/>
          <p:cNvSpPr/>
          <p:nvPr/>
        </p:nvSpPr>
        <p:spPr>
          <a:xfrm>
            <a:off x="5413248" y="2304288"/>
            <a:ext cx="118872" cy="1600200"/>
          </a:xfrm>
          <a:prstGeom prst="rect">
            <a:avLst/>
          </a:prstGeom>
          <a:solidFill>
            <a:srgbClr val="F4B942"/>
          </a:solidFill>
          <a:ln w="12700">
            <a:solidFill>
              <a:srgbClr val="F4B942">
                <a:alpha val="0"/>
              </a:srgbClr>
            </a:solidFill>
            <a:prstDash val="solid"/>
          </a:ln>
        </p:spPr>
      </p:sp>
      <p:sp>
        <p:nvSpPr>
          <p:cNvPr id="23" name="Text 21"/>
          <p:cNvSpPr/>
          <p:nvPr/>
        </p:nvSpPr>
        <p:spPr>
          <a:xfrm>
            <a:off x="5614416" y="2468880"/>
            <a:ext cx="1609344" cy="292608"/>
          </a:xfrm>
          <a:prstGeom prst="rect">
            <a:avLst/>
          </a:prstGeom>
          <a:noFill/>
          <a:ln/>
        </p:spPr>
        <p:txBody>
          <a:bodyPr wrap="square" lIns="0" tIns="0" rIns="0" bIns="0" rtlCol="0" anchor="ctr">
            <a:normAutofit/>
          </a:bodyPr>
          <a:lstStyle/>
          <a:p>
            <a:pPr indent="0" marL="0">
              <a:buNone/>
            </a:pPr>
            <a:r>
              <a:rPr lang="en-US" sz="1800" b="1" dirty="0">
                <a:solidFill>
                  <a:srgbClr val="1F2937"/>
                </a:solidFill>
                <a:latin typeface="Aptos Display" pitchFamily="34" charset="0"/>
                <a:ea typeface="Aptos Display" pitchFamily="34" charset="-122"/>
                <a:cs typeface="Aptos Display" pitchFamily="34" charset="-120"/>
              </a:rPr>
              <a:t>Startle</a:t>
            </a:r>
            <a:endParaRPr lang="en-US" sz="1800" dirty="0"/>
          </a:p>
        </p:txBody>
      </p:sp>
      <p:sp>
        <p:nvSpPr>
          <p:cNvPr id="24" name="Text 22"/>
          <p:cNvSpPr/>
          <p:nvPr/>
        </p:nvSpPr>
        <p:spPr>
          <a:xfrm>
            <a:off x="5614416" y="2834640"/>
            <a:ext cx="1609344" cy="905256"/>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Aptos" pitchFamily="34" charset="0"/>
                <a:ea typeface="Aptos" pitchFamily="34" charset="-122"/>
                <a:cs typeface="Aptos" pitchFamily="34" charset="-120"/>
              </a:rPr>
              <a:t>A counterintuitive fact creates useful cognitive friction and makes people pay attention.</a:t>
            </a:r>
            <a:endParaRPr lang="en-US" sz="1150" dirty="0"/>
          </a:p>
        </p:txBody>
      </p:sp>
      <p:sp>
        <p:nvSpPr>
          <p:cNvPr id="25" name="Shape 23"/>
          <p:cNvSpPr/>
          <p:nvPr/>
        </p:nvSpPr>
        <p:spPr>
          <a:xfrm>
            <a:off x="7699248" y="2304288"/>
            <a:ext cx="1920240" cy="1600200"/>
          </a:xfrm>
          <a:prstGeom prst="roundRect">
            <a:avLst>
              <a:gd name="adj" fmla="val 4571"/>
            </a:avLst>
          </a:prstGeom>
          <a:solidFill>
            <a:srgbClr val="FFFDF8"/>
          </a:solidFill>
          <a:ln w="12700">
            <a:solidFill>
              <a:srgbClr val="E7E1D6"/>
            </a:solidFill>
            <a:prstDash val="solid"/>
          </a:ln>
        </p:spPr>
      </p:sp>
      <p:sp>
        <p:nvSpPr>
          <p:cNvPr id="26" name="Shape 24"/>
          <p:cNvSpPr/>
          <p:nvPr/>
        </p:nvSpPr>
        <p:spPr>
          <a:xfrm>
            <a:off x="7699248" y="2304288"/>
            <a:ext cx="118872" cy="1600200"/>
          </a:xfrm>
          <a:prstGeom prst="rect">
            <a:avLst/>
          </a:prstGeom>
          <a:solidFill>
            <a:srgbClr val="F97316"/>
          </a:solidFill>
          <a:ln w="12700">
            <a:solidFill>
              <a:srgbClr val="F97316">
                <a:alpha val="0"/>
              </a:srgbClr>
            </a:solidFill>
            <a:prstDash val="solid"/>
          </a:ln>
        </p:spPr>
      </p:sp>
      <p:sp>
        <p:nvSpPr>
          <p:cNvPr id="27" name="Text 25"/>
          <p:cNvSpPr/>
          <p:nvPr/>
        </p:nvSpPr>
        <p:spPr>
          <a:xfrm>
            <a:off x="7900416" y="2468880"/>
            <a:ext cx="1609344" cy="292608"/>
          </a:xfrm>
          <a:prstGeom prst="rect">
            <a:avLst/>
          </a:prstGeom>
          <a:noFill/>
          <a:ln/>
        </p:spPr>
        <p:txBody>
          <a:bodyPr wrap="square" lIns="0" tIns="0" rIns="0" bIns="0" rtlCol="0" anchor="ctr">
            <a:normAutofit/>
          </a:bodyPr>
          <a:lstStyle/>
          <a:p>
            <a:pPr indent="0" marL="0">
              <a:buNone/>
            </a:pPr>
            <a:r>
              <a:rPr lang="en-US" sz="1800" b="1" dirty="0">
                <a:solidFill>
                  <a:srgbClr val="1F2937"/>
                </a:solidFill>
                <a:latin typeface="Aptos Display" pitchFamily="34" charset="0"/>
                <a:ea typeface="Aptos Display" pitchFamily="34" charset="-122"/>
                <a:cs typeface="Aptos Display" pitchFamily="34" charset="-120"/>
              </a:rPr>
              <a:t>Invite</a:t>
            </a:r>
            <a:endParaRPr lang="en-US" sz="1800" dirty="0"/>
          </a:p>
        </p:txBody>
      </p:sp>
      <p:sp>
        <p:nvSpPr>
          <p:cNvPr id="28" name="Text 26"/>
          <p:cNvSpPr/>
          <p:nvPr/>
        </p:nvSpPr>
        <p:spPr>
          <a:xfrm>
            <a:off x="7900416" y="2834640"/>
            <a:ext cx="1609344" cy="905256"/>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Aptos" pitchFamily="34" charset="0"/>
                <a:ea typeface="Aptos" pitchFamily="34" charset="-122"/>
                <a:cs typeface="Aptos" pitchFamily="34" charset="-120"/>
              </a:rPr>
              <a:t>A quick mental image or action moves the audience from passive listening to participation.</a:t>
            </a:r>
            <a:endParaRPr lang="en-US" sz="1150" dirty="0"/>
          </a:p>
        </p:txBody>
      </p:sp>
      <p:sp>
        <p:nvSpPr>
          <p:cNvPr id="29" name="Shape 27"/>
          <p:cNvSpPr/>
          <p:nvPr/>
        </p:nvSpPr>
        <p:spPr>
          <a:xfrm>
            <a:off x="3154680" y="4572000"/>
            <a:ext cx="6720840" cy="914400"/>
          </a:xfrm>
          <a:prstGeom prst="roundRect">
            <a:avLst>
              <a:gd name="adj" fmla="val 7000"/>
            </a:avLst>
          </a:prstGeom>
          <a:solidFill>
            <a:srgbClr val="FCFAF5"/>
          </a:solidFill>
          <a:ln w="12700">
            <a:solidFill>
              <a:srgbClr val="E7E1D6"/>
            </a:solidFill>
            <a:prstDash val="solid"/>
          </a:ln>
        </p:spPr>
      </p:sp>
      <p:sp>
        <p:nvSpPr>
          <p:cNvPr id="30" name="Shape 28"/>
          <p:cNvSpPr/>
          <p:nvPr/>
        </p:nvSpPr>
        <p:spPr>
          <a:xfrm>
            <a:off x="3319272" y="4736592"/>
            <a:ext cx="502920" cy="73152"/>
          </a:xfrm>
          <a:prstGeom prst="rect">
            <a:avLst/>
          </a:prstGeom>
          <a:solidFill>
            <a:srgbClr val="F97316"/>
          </a:solidFill>
          <a:ln w="12700">
            <a:solidFill>
              <a:srgbClr val="F97316">
                <a:alpha val="0"/>
              </a:srgbClr>
            </a:solidFill>
            <a:prstDash val="solid"/>
          </a:ln>
        </p:spPr>
      </p:sp>
      <p:sp>
        <p:nvSpPr>
          <p:cNvPr id="31" name="Text 29"/>
          <p:cNvSpPr/>
          <p:nvPr/>
        </p:nvSpPr>
        <p:spPr>
          <a:xfrm>
            <a:off x="3355848" y="4974336"/>
            <a:ext cx="6336792" cy="365760"/>
          </a:xfrm>
          <a:prstGeom prst="rect">
            <a:avLst/>
          </a:prstGeom>
          <a:noFill/>
          <a:ln/>
        </p:spPr>
        <p:txBody>
          <a:bodyPr wrap="square" lIns="0" tIns="0" rIns="0" bIns="0" rtlCol="0" anchor="ctr">
            <a:normAutofit/>
          </a:bodyPr>
          <a:lstStyle/>
          <a:p>
            <a:pPr indent="0" marL="0">
              <a:buNone/>
            </a:pPr>
            <a:r>
              <a:rPr lang="en-US" sz="1800" i="1" dirty="0">
                <a:solidFill>
                  <a:srgbClr val="1F2937"/>
                </a:solidFill>
                <a:latin typeface="Aptos Display" pitchFamily="34" charset="0"/>
                <a:ea typeface="Aptos Display" pitchFamily="34" charset="-122"/>
                <a:cs typeface="Aptos Display" pitchFamily="34" charset="-120"/>
              </a:rPr>
              <a:t>Skip the long introduction. Start with the problem.</a:t>
            </a:r>
            <a:endParaRPr lang="en-US" sz="1800" dirty="0"/>
          </a:p>
        </p:txBody>
      </p:sp>
      <p:sp>
        <p:nvSpPr>
          <p:cNvPr id="32" name="Text 30"/>
          <p:cNvSpPr/>
          <p:nvPr/>
        </p:nvSpPr>
        <p:spPr>
          <a:xfrm>
            <a:off x="11475720" y="6446520"/>
            <a:ext cx="411480" cy="182880"/>
          </a:xfrm>
          <a:prstGeom prst="rect">
            <a:avLst/>
          </a:prstGeom>
          <a:noFill/>
          <a:ln/>
        </p:spPr>
        <p:txBody>
          <a:bodyPr wrap="square" lIns="0" tIns="0" rIns="0" bIns="0" rtlCol="0" anchor="ctr"/>
          <a:lstStyle/>
          <a:p>
            <a:pPr algn="r" indent="0" marL="0">
              <a:buNone/>
            </a:pPr>
            <a:r>
              <a:rPr lang="en-US" sz="900" dirty="0">
                <a:solidFill>
                  <a:srgbClr val="64748B"/>
                </a:solidFill>
                <a:latin typeface="Aptos" pitchFamily="34" charset="0"/>
                <a:ea typeface="Aptos" pitchFamily="34" charset="-122"/>
                <a:cs typeface="Aptos" pitchFamily="34" charset="-120"/>
              </a:rPr>
              <a:t>03</a:t>
            </a:r>
            <a:endParaRPr lang="en-US" sz="900" dirty="0"/>
          </a:p>
        </p:txBody>
      </p:sp>
      <p:sp>
        <p:nvSpPr>
          <p:cNvPr id="33" name="Text 31"/>
          <p:cNvSpPr/>
          <p:nvPr/>
        </p:nvSpPr>
        <p:spPr>
          <a:xfrm>
            <a:off x="594360" y="6455664"/>
            <a:ext cx="2560320" cy="146304"/>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Storytelling for academic talks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9326880" y="-914400"/>
            <a:ext cx="4114800" cy="4114800"/>
          </a:xfrm>
          <a:prstGeom prst="ellipse">
            <a:avLst/>
          </a:prstGeom>
          <a:solidFill>
            <a:srgbClr val="F97316">
              <a:alpha val="8000"/>
            </a:srgbClr>
          </a:solidFill>
          <a:ln w="12700">
            <a:solidFill>
              <a:srgbClr val="F97316">
                <a:alpha val="0"/>
              </a:srgbClr>
            </a:solidFill>
            <a:prstDash val="solid"/>
          </a:ln>
        </p:spPr>
      </p:sp>
      <p:sp>
        <p:nvSpPr>
          <p:cNvPr id="3" name="Shape 1"/>
          <p:cNvSpPr/>
          <p:nvPr/>
        </p:nvSpPr>
        <p:spPr>
          <a:xfrm>
            <a:off x="-914400" y="5120640"/>
            <a:ext cx="4023360" cy="4023360"/>
          </a:xfrm>
          <a:prstGeom prst="ellipse">
            <a:avLst/>
          </a:prstGeom>
          <a:solidFill>
            <a:srgbClr val="14B8A6">
              <a:alpha val="6000"/>
            </a:srgbClr>
          </a:solidFill>
          <a:ln w="12700">
            <a:solidFill>
              <a:srgbClr val="14B8A6">
                <a:alpha val="0"/>
              </a:srgbClr>
            </a:solidFill>
            <a:prstDash val="solid"/>
          </a:ln>
        </p:spPr>
      </p:sp>
      <p:sp>
        <p:nvSpPr>
          <p:cNvPr id="4" name="Shape 2"/>
          <p:cNvSpPr/>
          <p:nvPr/>
        </p:nvSpPr>
        <p:spPr>
          <a:xfrm>
            <a:off x="0" y="0"/>
            <a:ext cx="12191695" cy="73152"/>
          </a:xfrm>
          <a:prstGeom prst="rect">
            <a:avLst/>
          </a:prstGeom>
          <a:solidFill>
            <a:srgbClr val="F97316">
              <a:alpha val="80000"/>
            </a:srgbClr>
          </a:solidFill>
          <a:ln w="12700">
            <a:solidFill>
              <a:srgbClr val="F97316">
                <a:alpha val="0"/>
              </a:srgbClr>
            </a:solidFill>
            <a:prstDash val="solid"/>
          </a:ln>
        </p:spPr>
      </p:sp>
      <p:sp>
        <p:nvSpPr>
          <p:cNvPr id="5" name="Text 3"/>
          <p:cNvSpPr/>
          <p:nvPr/>
        </p:nvSpPr>
        <p:spPr>
          <a:xfrm>
            <a:off x="658368" y="420624"/>
            <a:ext cx="2560320" cy="182880"/>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DESIGN FOR ONE CLAIM</a:t>
            </a:r>
            <a:endParaRPr lang="en-US" sz="1000" dirty="0"/>
          </a:p>
        </p:txBody>
      </p:sp>
      <p:sp>
        <p:nvSpPr>
          <p:cNvPr id="6" name="Text 4"/>
          <p:cNvSpPr/>
          <p:nvPr/>
        </p:nvSpPr>
        <p:spPr>
          <a:xfrm>
            <a:off x="621792" y="694944"/>
            <a:ext cx="7863840" cy="713232"/>
          </a:xfrm>
          <a:prstGeom prst="rect">
            <a:avLst/>
          </a:prstGeom>
          <a:noFill/>
          <a:ln/>
        </p:spPr>
        <p:txBody>
          <a:bodyPr wrap="square" lIns="0" tIns="0" rIns="0" bIns="0" rtlCol="0" anchor="ctr">
            <a:normAutofit/>
          </a:bodyPr>
          <a:lstStyle/>
          <a:p>
            <a:pPr indent="0" marL="0">
              <a:buNone/>
            </a:pPr>
            <a:r>
              <a:rPr lang="en-US" sz="2400" b="1" dirty="0">
                <a:solidFill>
                  <a:srgbClr val="1F2937"/>
                </a:solidFill>
                <a:latin typeface="Aptos Display" pitchFamily="34" charset="0"/>
                <a:ea typeface="Aptos Display" pitchFamily="34" charset="-122"/>
                <a:cs typeface="Aptos Display" pitchFamily="34" charset="-120"/>
              </a:rPr>
              <a:t>Let the slide title say the conclusion</a:t>
            </a:r>
            <a:endParaRPr lang="en-US" sz="2400" dirty="0"/>
          </a:p>
        </p:txBody>
      </p:sp>
      <p:sp>
        <p:nvSpPr>
          <p:cNvPr id="7" name="Text 5"/>
          <p:cNvSpPr/>
          <p:nvPr/>
        </p:nvSpPr>
        <p:spPr>
          <a:xfrm>
            <a:off x="658368" y="1417320"/>
            <a:ext cx="8138160" cy="347472"/>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A slide should be readable as a sentence, not just a topic label.</a:t>
            </a:r>
            <a:endParaRPr lang="en-US" sz="1300" dirty="0"/>
          </a:p>
        </p:txBody>
      </p:sp>
      <p:sp>
        <p:nvSpPr>
          <p:cNvPr id="8" name="Shape 6"/>
          <p:cNvSpPr/>
          <p:nvPr/>
        </p:nvSpPr>
        <p:spPr>
          <a:xfrm>
            <a:off x="749808" y="1783080"/>
            <a:ext cx="5074920" cy="3520440"/>
          </a:xfrm>
          <a:prstGeom prst="roundRect">
            <a:avLst>
              <a:gd name="adj" fmla="val 2078"/>
            </a:avLst>
          </a:prstGeom>
          <a:solidFill>
            <a:srgbClr val="FFF7F4"/>
          </a:solidFill>
          <a:ln w="12700">
            <a:solidFill>
              <a:srgbClr val="E7E1D6"/>
            </a:solidFill>
            <a:prstDash val="solid"/>
          </a:ln>
        </p:spPr>
      </p:sp>
      <p:sp>
        <p:nvSpPr>
          <p:cNvPr id="9" name="Shape 7"/>
          <p:cNvSpPr/>
          <p:nvPr/>
        </p:nvSpPr>
        <p:spPr>
          <a:xfrm>
            <a:off x="749808" y="1783080"/>
            <a:ext cx="118872" cy="3520440"/>
          </a:xfrm>
          <a:prstGeom prst="rect">
            <a:avLst/>
          </a:prstGeom>
          <a:solidFill>
            <a:srgbClr val="FB7185"/>
          </a:solidFill>
          <a:ln w="12700">
            <a:solidFill>
              <a:srgbClr val="FB7185">
                <a:alpha val="0"/>
              </a:srgbClr>
            </a:solidFill>
            <a:prstDash val="solid"/>
          </a:ln>
        </p:spPr>
      </p:sp>
      <p:sp>
        <p:nvSpPr>
          <p:cNvPr id="10" name="Text 8"/>
          <p:cNvSpPr/>
          <p:nvPr/>
        </p:nvSpPr>
        <p:spPr>
          <a:xfrm>
            <a:off x="950976" y="1947672"/>
            <a:ext cx="4764024" cy="292608"/>
          </a:xfrm>
          <a:prstGeom prst="rect">
            <a:avLst/>
          </a:prstGeom>
          <a:noFill/>
          <a:ln/>
        </p:spPr>
        <p:txBody>
          <a:bodyPr wrap="square" lIns="0" tIns="0" rIns="0" bIns="0" rtlCol="0" anchor="ctr">
            <a:normAutofit/>
          </a:bodyPr>
          <a:lstStyle/>
          <a:p>
            <a:pPr indent="0" marL="0">
              <a:buNone/>
            </a:pPr>
            <a:r>
              <a:rPr lang="en-US" sz="1800" b="1" dirty="0">
                <a:solidFill>
                  <a:srgbClr val="1F2937"/>
                </a:solidFill>
                <a:latin typeface="Aptos Display" pitchFamily="34" charset="0"/>
                <a:ea typeface="Aptos Display" pitchFamily="34" charset="-122"/>
                <a:cs typeface="Aptos Display" pitchFamily="34" charset="-120"/>
              </a:rPr>
              <a:t>Bad: topic label plus clutter</a:t>
            </a:r>
            <a:endParaRPr lang="en-US" sz="1800" dirty="0"/>
          </a:p>
        </p:txBody>
      </p:sp>
      <p:sp>
        <p:nvSpPr>
          <p:cNvPr id="11" name="Text 9"/>
          <p:cNvSpPr/>
          <p:nvPr/>
        </p:nvSpPr>
        <p:spPr>
          <a:xfrm>
            <a:off x="950976" y="2313432"/>
            <a:ext cx="4764024" cy="2825496"/>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Aptos" pitchFamily="34" charset="0"/>
                <a:ea typeface="Aptos" pitchFamily="34" charset="-122"/>
                <a:cs typeface="Aptos" pitchFamily="34" charset="-120"/>
              </a:rPr>
              <a:t>Too many bullets</a:t>
            </a:r>
            <a:endParaRPr lang="en-US" sz="1150" dirty="0"/>
          </a:p>
          <a:p>
            <a:pPr indent="0" marL="0">
              <a:buNone/>
            </a:pPr>
            <a:r>
              <a:rPr lang="en-US" sz="1150" dirty="0">
                <a:solidFill>
                  <a:srgbClr val="64748B"/>
                </a:solidFill>
                <a:latin typeface="Aptos" pitchFamily="34" charset="0"/>
                <a:ea typeface="Aptos" pitchFamily="34" charset="-122"/>
                <a:cs typeface="Aptos" pitchFamily="34" charset="-120"/>
              </a:rPr>
              <a:t>Too much text</a:t>
            </a:r>
            <a:endParaRPr lang="en-US" sz="1150" dirty="0"/>
          </a:p>
          <a:p>
            <a:pPr indent="0" marL="0">
              <a:buNone/>
            </a:pPr>
            <a:r>
              <a:rPr lang="en-US" sz="1150" dirty="0">
                <a:solidFill>
                  <a:srgbClr val="64748B"/>
                </a:solidFill>
                <a:latin typeface="Aptos" pitchFamily="34" charset="0"/>
                <a:ea typeface="Aptos" pitchFamily="34" charset="-122"/>
                <a:cs typeface="Aptos" pitchFamily="34" charset="-120"/>
              </a:rPr>
              <a:t>No clear takeaway</a:t>
            </a:r>
            <a:endParaRPr lang="en-US" sz="1150" dirty="0"/>
          </a:p>
          <a:p>
            <a:pPr indent="0" marL="0">
              <a:buNone/>
            </a:pPr>
            <a:r>
              <a:rPr lang="en-US" sz="1150" dirty="0">
                <a:solidFill>
                  <a:srgbClr val="64748B"/>
                </a:solidFill>
                <a:latin typeface="Aptos" pitchFamily="34" charset="0"/>
                <a:ea typeface="Aptos" pitchFamily="34" charset="-122"/>
                <a:cs typeface="Aptos" pitchFamily="34" charset="-120"/>
              </a:rPr>
              <a:t>Audience reads instead of listens</a:t>
            </a:r>
            <a:endParaRPr lang="en-US" sz="1150" dirty="0"/>
          </a:p>
        </p:txBody>
      </p:sp>
      <p:sp>
        <p:nvSpPr>
          <p:cNvPr id="12" name="Shape 10"/>
          <p:cNvSpPr/>
          <p:nvPr/>
        </p:nvSpPr>
        <p:spPr>
          <a:xfrm>
            <a:off x="1078992" y="2487168"/>
            <a:ext cx="3246120" cy="109728"/>
          </a:xfrm>
          <a:prstGeom prst="rect">
            <a:avLst/>
          </a:prstGeom>
          <a:solidFill>
            <a:srgbClr val="CBD5E1"/>
          </a:solidFill>
          <a:ln w="12700">
            <a:solidFill>
              <a:srgbClr val="64748B">
                <a:alpha val="0"/>
              </a:srgbClr>
            </a:solidFill>
            <a:prstDash val="solid"/>
          </a:ln>
        </p:spPr>
      </p:sp>
      <p:sp>
        <p:nvSpPr>
          <p:cNvPr id="13" name="Shape 11"/>
          <p:cNvSpPr/>
          <p:nvPr/>
        </p:nvSpPr>
        <p:spPr>
          <a:xfrm>
            <a:off x="1078992" y="3017520"/>
            <a:ext cx="3246120" cy="109728"/>
          </a:xfrm>
          <a:prstGeom prst="rect">
            <a:avLst/>
          </a:prstGeom>
          <a:solidFill>
            <a:srgbClr val="CBD5E1"/>
          </a:solidFill>
          <a:ln w="12700">
            <a:solidFill>
              <a:srgbClr val="64748B">
                <a:alpha val="0"/>
              </a:srgbClr>
            </a:solidFill>
            <a:prstDash val="solid"/>
          </a:ln>
        </p:spPr>
      </p:sp>
      <p:sp>
        <p:nvSpPr>
          <p:cNvPr id="14" name="Shape 12"/>
          <p:cNvSpPr/>
          <p:nvPr/>
        </p:nvSpPr>
        <p:spPr>
          <a:xfrm>
            <a:off x="1078992" y="3547872"/>
            <a:ext cx="3246120" cy="109728"/>
          </a:xfrm>
          <a:prstGeom prst="rect">
            <a:avLst/>
          </a:prstGeom>
          <a:solidFill>
            <a:srgbClr val="CBD5E1"/>
          </a:solidFill>
          <a:ln w="12700">
            <a:solidFill>
              <a:srgbClr val="64748B">
                <a:alpha val="0"/>
              </a:srgbClr>
            </a:solidFill>
            <a:prstDash val="solid"/>
          </a:ln>
        </p:spPr>
      </p:sp>
      <p:sp>
        <p:nvSpPr>
          <p:cNvPr id="15" name="Shape 13"/>
          <p:cNvSpPr/>
          <p:nvPr/>
        </p:nvSpPr>
        <p:spPr>
          <a:xfrm>
            <a:off x="1078992" y="4078224"/>
            <a:ext cx="3246120" cy="109728"/>
          </a:xfrm>
          <a:prstGeom prst="rect">
            <a:avLst/>
          </a:prstGeom>
          <a:solidFill>
            <a:srgbClr val="CBD5E1"/>
          </a:solidFill>
          <a:ln w="12700">
            <a:solidFill>
              <a:srgbClr val="64748B">
                <a:alpha val="0"/>
              </a:srgbClr>
            </a:solidFill>
            <a:prstDash val="solid"/>
          </a:ln>
        </p:spPr>
      </p:sp>
      <p:sp>
        <p:nvSpPr>
          <p:cNvPr id="16" name="Shape 14"/>
          <p:cNvSpPr/>
          <p:nvPr/>
        </p:nvSpPr>
        <p:spPr>
          <a:xfrm>
            <a:off x="1005840" y="2286000"/>
            <a:ext cx="3474720" cy="1920240"/>
          </a:xfrm>
          <a:prstGeom prst="line">
            <a:avLst/>
          </a:prstGeom>
          <a:noFill/>
          <a:ln w="12700">
            <a:solidFill>
              <a:srgbClr val="FB7185"/>
            </a:solidFill>
            <a:prstDash val="solid"/>
            <a:headEnd type="none"/>
            <a:tailEnd type="none"/>
          </a:ln>
        </p:spPr>
      </p:sp>
      <p:sp>
        <p:nvSpPr>
          <p:cNvPr id="17" name="Shape 15"/>
          <p:cNvSpPr/>
          <p:nvPr/>
        </p:nvSpPr>
        <p:spPr>
          <a:xfrm>
            <a:off x="4498848" y="2286000"/>
            <a:ext cx="-3493008" cy="1920240"/>
          </a:xfrm>
          <a:prstGeom prst="line">
            <a:avLst/>
          </a:prstGeom>
          <a:noFill/>
          <a:ln w="12700">
            <a:solidFill>
              <a:srgbClr val="FB7185"/>
            </a:solidFill>
            <a:prstDash val="solid"/>
            <a:headEnd type="none"/>
            <a:tailEnd type="none"/>
          </a:ln>
        </p:spPr>
      </p:sp>
      <p:sp>
        <p:nvSpPr>
          <p:cNvPr id="18" name="Shape 16"/>
          <p:cNvSpPr/>
          <p:nvPr/>
        </p:nvSpPr>
        <p:spPr>
          <a:xfrm>
            <a:off x="6336792" y="1783080"/>
            <a:ext cx="5074920" cy="3520440"/>
          </a:xfrm>
          <a:prstGeom prst="roundRect">
            <a:avLst>
              <a:gd name="adj" fmla="val 2078"/>
            </a:avLst>
          </a:prstGeom>
          <a:solidFill>
            <a:srgbClr val="F6FBFA"/>
          </a:solidFill>
          <a:ln w="12700">
            <a:solidFill>
              <a:srgbClr val="E7E1D6"/>
            </a:solidFill>
            <a:prstDash val="solid"/>
          </a:ln>
        </p:spPr>
      </p:sp>
      <p:sp>
        <p:nvSpPr>
          <p:cNvPr id="19" name="Shape 17"/>
          <p:cNvSpPr/>
          <p:nvPr/>
        </p:nvSpPr>
        <p:spPr>
          <a:xfrm>
            <a:off x="6336792" y="1783080"/>
            <a:ext cx="118872" cy="3520440"/>
          </a:xfrm>
          <a:prstGeom prst="rect">
            <a:avLst/>
          </a:prstGeom>
          <a:solidFill>
            <a:srgbClr val="14B8A6"/>
          </a:solidFill>
          <a:ln w="12700">
            <a:solidFill>
              <a:srgbClr val="14B8A6">
                <a:alpha val="0"/>
              </a:srgbClr>
            </a:solidFill>
            <a:prstDash val="solid"/>
          </a:ln>
        </p:spPr>
      </p:sp>
      <p:sp>
        <p:nvSpPr>
          <p:cNvPr id="20" name="Text 18"/>
          <p:cNvSpPr/>
          <p:nvPr/>
        </p:nvSpPr>
        <p:spPr>
          <a:xfrm>
            <a:off x="6537960" y="1947672"/>
            <a:ext cx="4764024" cy="292608"/>
          </a:xfrm>
          <a:prstGeom prst="rect">
            <a:avLst/>
          </a:prstGeom>
          <a:noFill/>
          <a:ln/>
        </p:spPr>
        <p:txBody>
          <a:bodyPr wrap="square" lIns="0" tIns="0" rIns="0" bIns="0" rtlCol="0" anchor="ctr">
            <a:normAutofit/>
          </a:bodyPr>
          <a:lstStyle/>
          <a:p>
            <a:pPr indent="0" marL="0">
              <a:buNone/>
            </a:pPr>
            <a:r>
              <a:rPr lang="en-US" sz="1800" b="1" dirty="0">
                <a:solidFill>
                  <a:srgbClr val="1F2937"/>
                </a:solidFill>
                <a:latin typeface="Aptos Display" pitchFamily="34" charset="0"/>
                <a:ea typeface="Aptos Display" pitchFamily="34" charset="-122"/>
                <a:cs typeface="Aptos Display" pitchFamily="34" charset="-120"/>
              </a:rPr>
              <a:t>Good: one claim, one visual</a:t>
            </a:r>
            <a:endParaRPr lang="en-US" sz="1800" dirty="0"/>
          </a:p>
        </p:txBody>
      </p:sp>
      <p:sp>
        <p:nvSpPr>
          <p:cNvPr id="21" name="Text 19"/>
          <p:cNvSpPr/>
          <p:nvPr/>
        </p:nvSpPr>
        <p:spPr>
          <a:xfrm>
            <a:off x="6537960" y="2313432"/>
            <a:ext cx="4764024" cy="2825496"/>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Aptos" pitchFamily="34" charset="0"/>
                <a:ea typeface="Aptos" pitchFamily="34" charset="-122"/>
                <a:cs typeface="Aptos" pitchFamily="34" charset="-120"/>
              </a:rPr>
              <a:t>The title already gives the conclusion.</a:t>
            </a:r>
            <a:endParaRPr lang="en-US" sz="1150" dirty="0"/>
          </a:p>
          <a:p>
            <a:pPr indent="0" marL="0">
              <a:buNone/>
            </a:pPr>
            <a:r>
              <a:rPr lang="en-US" sz="1150" dirty="0">
                <a:solidFill>
                  <a:srgbClr val="64748B"/>
                </a:solidFill>
                <a:latin typeface="Aptos" pitchFamily="34" charset="0"/>
                <a:ea typeface="Aptos" pitchFamily="34" charset="-122"/>
                <a:cs typeface="Aptos" pitchFamily="34" charset="-120"/>
              </a:rPr>
              <a:t>The visual proves it.</a:t>
            </a:r>
            <a:endParaRPr lang="en-US" sz="1150" dirty="0"/>
          </a:p>
          <a:p>
            <a:pPr indent="0" marL="0">
              <a:buNone/>
            </a:pPr>
            <a:r>
              <a:rPr lang="en-US" sz="1150" dirty="0">
                <a:solidFill>
                  <a:srgbClr val="64748B"/>
                </a:solidFill>
                <a:latin typeface="Aptos" pitchFamily="34" charset="0"/>
                <a:ea typeface="Aptos" pitchFamily="34" charset="-122"/>
                <a:cs typeface="Aptos" pitchFamily="34" charset="-120"/>
              </a:rPr>
              <a:t>The speech explains why it matters.</a:t>
            </a:r>
            <a:endParaRPr lang="en-US" sz="1150" dirty="0"/>
          </a:p>
        </p:txBody>
      </p:sp>
      <p:sp>
        <p:nvSpPr>
          <p:cNvPr id="22" name="Shape 20"/>
          <p:cNvSpPr/>
          <p:nvPr/>
        </p:nvSpPr>
        <p:spPr>
          <a:xfrm>
            <a:off x="6656832" y="2395728"/>
            <a:ext cx="4297680" cy="1783080"/>
          </a:xfrm>
          <a:prstGeom prst="roundRect">
            <a:avLst>
              <a:gd name="adj" fmla="val 2564"/>
            </a:avLst>
          </a:prstGeom>
          <a:solidFill>
            <a:srgbClr val="FFFFFF"/>
          </a:solidFill>
          <a:ln w="12700">
            <a:solidFill>
              <a:srgbClr val="E7E1D6"/>
            </a:solidFill>
            <a:prstDash val="solid"/>
          </a:ln>
        </p:spPr>
      </p:sp>
      <p:sp>
        <p:nvSpPr>
          <p:cNvPr id="23" name="Shape 21"/>
          <p:cNvSpPr/>
          <p:nvPr/>
        </p:nvSpPr>
        <p:spPr>
          <a:xfrm>
            <a:off x="6967728" y="3749040"/>
            <a:ext cx="3502152" cy="0"/>
          </a:xfrm>
          <a:prstGeom prst="line">
            <a:avLst/>
          </a:prstGeom>
          <a:noFill/>
          <a:ln w="12700">
            <a:solidFill>
              <a:srgbClr val="14B8A6"/>
            </a:solidFill>
            <a:prstDash val="solid"/>
          </a:ln>
        </p:spPr>
      </p:sp>
      <p:sp>
        <p:nvSpPr>
          <p:cNvPr id="24" name="Shape 22"/>
          <p:cNvSpPr/>
          <p:nvPr/>
        </p:nvSpPr>
        <p:spPr>
          <a:xfrm>
            <a:off x="7132320" y="3611880"/>
            <a:ext cx="502920" cy="-457200"/>
          </a:xfrm>
          <a:prstGeom prst="line">
            <a:avLst/>
          </a:prstGeom>
          <a:noFill/>
          <a:ln w="12700">
            <a:solidFill>
              <a:srgbClr val="14B8A6"/>
            </a:solidFill>
            <a:prstDash val="solid"/>
          </a:ln>
        </p:spPr>
      </p:sp>
      <p:sp>
        <p:nvSpPr>
          <p:cNvPr id="25" name="Shape 23"/>
          <p:cNvSpPr/>
          <p:nvPr/>
        </p:nvSpPr>
        <p:spPr>
          <a:xfrm>
            <a:off x="7635240" y="3154680"/>
            <a:ext cx="649224" cy="338328"/>
          </a:xfrm>
          <a:prstGeom prst="line">
            <a:avLst/>
          </a:prstGeom>
          <a:noFill/>
          <a:ln w="12700">
            <a:solidFill>
              <a:srgbClr val="14B8A6"/>
            </a:solidFill>
            <a:prstDash val="solid"/>
          </a:ln>
        </p:spPr>
      </p:sp>
      <p:sp>
        <p:nvSpPr>
          <p:cNvPr id="26" name="Shape 24"/>
          <p:cNvSpPr/>
          <p:nvPr/>
        </p:nvSpPr>
        <p:spPr>
          <a:xfrm>
            <a:off x="8284464" y="3493008"/>
            <a:ext cx="722376" cy="-566928"/>
          </a:xfrm>
          <a:prstGeom prst="line">
            <a:avLst/>
          </a:prstGeom>
          <a:noFill/>
          <a:ln w="12700">
            <a:solidFill>
              <a:srgbClr val="14B8A6"/>
            </a:solidFill>
            <a:prstDash val="solid"/>
          </a:ln>
        </p:spPr>
      </p:sp>
      <p:sp>
        <p:nvSpPr>
          <p:cNvPr id="27" name="Shape 25"/>
          <p:cNvSpPr/>
          <p:nvPr/>
        </p:nvSpPr>
        <p:spPr>
          <a:xfrm>
            <a:off x="9006840" y="2926080"/>
            <a:ext cx="704088" cy="320040"/>
          </a:xfrm>
          <a:prstGeom prst="line">
            <a:avLst/>
          </a:prstGeom>
          <a:noFill/>
          <a:ln w="12700">
            <a:solidFill>
              <a:srgbClr val="14B8A6"/>
            </a:solidFill>
            <a:prstDash val="solid"/>
          </a:ln>
        </p:spPr>
      </p:sp>
      <p:sp>
        <p:nvSpPr>
          <p:cNvPr id="28" name="Shape 26"/>
          <p:cNvSpPr/>
          <p:nvPr/>
        </p:nvSpPr>
        <p:spPr>
          <a:xfrm>
            <a:off x="9710928" y="3246120"/>
            <a:ext cx="667512" cy="-548640"/>
          </a:xfrm>
          <a:prstGeom prst="line">
            <a:avLst/>
          </a:prstGeom>
          <a:noFill/>
          <a:ln w="12700">
            <a:solidFill>
              <a:srgbClr val="14B8A6"/>
            </a:solidFill>
            <a:prstDash val="solid"/>
          </a:ln>
        </p:spPr>
      </p:sp>
      <p:sp>
        <p:nvSpPr>
          <p:cNvPr id="29" name="Text 27"/>
          <p:cNvSpPr/>
          <p:nvPr/>
        </p:nvSpPr>
        <p:spPr>
          <a:xfrm>
            <a:off x="6876288" y="2651760"/>
            <a:ext cx="3886200" cy="320040"/>
          </a:xfrm>
          <a:prstGeom prst="rect">
            <a:avLst/>
          </a:prstGeom>
          <a:noFill/>
          <a:ln/>
        </p:spPr>
        <p:txBody>
          <a:bodyPr wrap="square" lIns="0" tIns="0" rIns="0" bIns="0" rtlCol="0" anchor="ctr">
            <a:normAutofit/>
          </a:bodyPr>
          <a:lstStyle/>
          <a:p>
            <a:pPr algn="ctr" indent="0" marL="0">
              <a:buNone/>
            </a:pPr>
            <a:r>
              <a:rPr lang="en-US" sz="1600" b="1" dirty="0">
                <a:solidFill>
                  <a:srgbClr val="1F2937"/>
                </a:solidFill>
                <a:latin typeface="Aptos Display" pitchFamily="34" charset="0"/>
                <a:ea typeface="Aptos Display" pitchFamily="34" charset="-122"/>
                <a:cs typeface="Aptos Display" pitchFamily="34" charset="-120"/>
              </a:rPr>
              <a:t>Your slide title should already tell the conclusion.</a:t>
            </a:r>
            <a:endParaRPr lang="en-US" sz="1600" dirty="0"/>
          </a:p>
        </p:txBody>
      </p:sp>
      <p:sp>
        <p:nvSpPr>
          <p:cNvPr id="30" name="Text 28"/>
          <p:cNvSpPr/>
          <p:nvPr/>
        </p:nvSpPr>
        <p:spPr>
          <a:xfrm>
            <a:off x="6949440" y="4041648"/>
            <a:ext cx="3840480" cy="329184"/>
          </a:xfrm>
          <a:prstGeom prst="rect">
            <a:avLst/>
          </a:prstGeom>
          <a:noFill/>
          <a:ln/>
        </p:spPr>
        <p:txBody>
          <a:bodyPr wrap="square" lIns="0" tIns="0" rIns="0" bIns="0" rtlCol="0" anchor="ctr">
            <a:normAutofit/>
          </a:bodyPr>
          <a:lstStyle/>
          <a:p>
            <a:pPr algn="ctr" indent="0" marL="0">
              <a:buNone/>
            </a:pPr>
            <a:r>
              <a:rPr lang="en-US" sz="1100" dirty="0">
                <a:solidFill>
                  <a:srgbClr val="64748B"/>
                </a:solidFill>
                <a:latin typeface="Aptos" pitchFamily="34" charset="0"/>
                <a:ea typeface="Aptos" pitchFamily="34" charset="-122"/>
                <a:cs typeface="Aptos" pitchFamily="34" charset="-120"/>
              </a:rPr>
              <a:t>Then the chart, diagram, or image becomes evidence instead of decoration.</a:t>
            </a:r>
            <a:endParaRPr lang="en-US" sz="1100" dirty="0"/>
          </a:p>
        </p:txBody>
      </p:sp>
      <p:sp>
        <p:nvSpPr>
          <p:cNvPr id="31" name="Shape 29"/>
          <p:cNvSpPr/>
          <p:nvPr/>
        </p:nvSpPr>
        <p:spPr>
          <a:xfrm>
            <a:off x="5230368" y="5468112"/>
            <a:ext cx="896112" cy="329184"/>
          </a:xfrm>
          <a:prstGeom prst="roundRect">
            <a:avLst>
              <a:gd name="adj" fmla="val 19444"/>
            </a:avLst>
          </a:prstGeom>
          <a:solidFill>
            <a:srgbClr val="F97316"/>
          </a:solidFill>
          <a:ln w="12700">
            <a:solidFill>
              <a:srgbClr val="F97316">
                <a:alpha val="0"/>
              </a:srgbClr>
            </a:solidFill>
            <a:prstDash val="solid"/>
          </a:ln>
        </p:spPr>
      </p:sp>
      <p:sp>
        <p:nvSpPr>
          <p:cNvPr id="32" name="Text 30"/>
          <p:cNvSpPr/>
          <p:nvPr/>
        </p:nvSpPr>
        <p:spPr>
          <a:xfrm>
            <a:off x="5230368" y="5495544"/>
            <a:ext cx="896112"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One claim</a:t>
            </a:r>
            <a:endParaRPr lang="en-US" sz="1000" dirty="0"/>
          </a:p>
        </p:txBody>
      </p:sp>
      <p:sp>
        <p:nvSpPr>
          <p:cNvPr id="33" name="Shape 31"/>
          <p:cNvSpPr/>
          <p:nvPr/>
        </p:nvSpPr>
        <p:spPr>
          <a:xfrm>
            <a:off x="6419088" y="5468112"/>
            <a:ext cx="896112" cy="329184"/>
          </a:xfrm>
          <a:prstGeom prst="roundRect">
            <a:avLst>
              <a:gd name="adj" fmla="val 19444"/>
            </a:avLst>
          </a:prstGeom>
          <a:solidFill>
            <a:srgbClr val="14B8A6"/>
          </a:solidFill>
          <a:ln w="12700">
            <a:solidFill>
              <a:srgbClr val="14B8A6">
                <a:alpha val="0"/>
              </a:srgbClr>
            </a:solidFill>
            <a:prstDash val="solid"/>
          </a:ln>
        </p:spPr>
      </p:sp>
      <p:sp>
        <p:nvSpPr>
          <p:cNvPr id="34" name="Text 32"/>
          <p:cNvSpPr/>
          <p:nvPr/>
        </p:nvSpPr>
        <p:spPr>
          <a:xfrm>
            <a:off x="6419088" y="5495544"/>
            <a:ext cx="896112"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One visual</a:t>
            </a:r>
            <a:endParaRPr lang="en-US" sz="1000" dirty="0"/>
          </a:p>
        </p:txBody>
      </p:sp>
      <p:sp>
        <p:nvSpPr>
          <p:cNvPr id="35" name="Shape 33"/>
          <p:cNvSpPr/>
          <p:nvPr/>
        </p:nvSpPr>
        <p:spPr>
          <a:xfrm>
            <a:off x="7607808" y="5468112"/>
            <a:ext cx="1060704" cy="329184"/>
          </a:xfrm>
          <a:prstGeom prst="roundRect">
            <a:avLst>
              <a:gd name="adj" fmla="val 19444"/>
            </a:avLst>
          </a:prstGeom>
          <a:solidFill>
            <a:srgbClr val="F4B942"/>
          </a:solidFill>
          <a:ln w="12700">
            <a:solidFill>
              <a:srgbClr val="F4B942">
                <a:alpha val="0"/>
              </a:srgbClr>
            </a:solidFill>
            <a:prstDash val="solid"/>
          </a:ln>
        </p:spPr>
      </p:sp>
      <p:sp>
        <p:nvSpPr>
          <p:cNvPr id="36" name="Text 34"/>
          <p:cNvSpPr/>
          <p:nvPr/>
        </p:nvSpPr>
        <p:spPr>
          <a:xfrm>
            <a:off x="7607808" y="5495544"/>
            <a:ext cx="1060704" cy="201168"/>
          </a:xfrm>
          <a:prstGeom prst="rect">
            <a:avLst/>
          </a:prstGeom>
          <a:noFill/>
          <a:ln/>
        </p:spPr>
        <p:txBody>
          <a:bodyPr wrap="square" lIns="0" tIns="0" rIns="0" bIns="0" rtlCol="0" anchor="ctr"/>
          <a:lstStyle/>
          <a:p>
            <a:pPr algn="ctr" indent="0" marL="0">
              <a:buNone/>
            </a:pPr>
            <a:r>
              <a:rPr lang="en-US" sz="1000" b="1" dirty="0">
                <a:solidFill>
                  <a:srgbClr val="0B1220"/>
                </a:solidFill>
                <a:latin typeface="Aptos" pitchFamily="34" charset="0"/>
                <a:ea typeface="Aptos" pitchFamily="34" charset="-122"/>
                <a:cs typeface="Aptos" pitchFamily="34" charset="-120"/>
              </a:rPr>
              <a:t>One takeaway</a:t>
            </a:r>
            <a:endParaRPr lang="en-US" sz="1000" dirty="0"/>
          </a:p>
        </p:txBody>
      </p:sp>
      <p:sp>
        <p:nvSpPr>
          <p:cNvPr id="37" name="Text 35"/>
          <p:cNvSpPr/>
          <p:nvPr/>
        </p:nvSpPr>
        <p:spPr>
          <a:xfrm>
            <a:off x="11475720" y="6446520"/>
            <a:ext cx="411480" cy="182880"/>
          </a:xfrm>
          <a:prstGeom prst="rect">
            <a:avLst/>
          </a:prstGeom>
          <a:noFill/>
          <a:ln/>
        </p:spPr>
        <p:txBody>
          <a:bodyPr wrap="square" lIns="0" tIns="0" rIns="0" bIns="0" rtlCol="0" anchor="ctr"/>
          <a:lstStyle/>
          <a:p>
            <a:pPr algn="r" indent="0" marL="0">
              <a:buNone/>
            </a:pPr>
            <a:r>
              <a:rPr lang="en-US" sz="900" dirty="0">
                <a:solidFill>
                  <a:srgbClr val="64748B"/>
                </a:solidFill>
                <a:latin typeface="Aptos" pitchFamily="34" charset="0"/>
                <a:ea typeface="Aptos" pitchFamily="34" charset="-122"/>
                <a:cs typeface="Aptos" pitchFamily="34" charset="-120"/>
              </a:rPr>
              <a:t>04</a:t>
            </a:r>
            <a:endParaRPr lang="en-US" sz="900" dirty="0"/>
          </a:p>
        </p:txBody>
      </p:sp>
      <p:sp>
        <p:nvSpPr>
          <p:cNvPr id="38" name="Text 36"/>
          <p:cNvSpPr/>
          <p:nvPr/>
        </p:nvSpPr>
        <p:spPr>
          <a:xfrm>
            <a:off x="594360" y="6455664"/>
            <a:ext cx="2560320" cy="146304"/>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Storytelling for academic talks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9326880" y="-914400"/>
            <a:ext cx="4114800" cy="4114800"/>
          </a:xfrm>
          <a:prstGeom prst="ellipse">
            <a:avLst/>
          </a:prstGeom>
          <a:solidFill>
            <a:srgbClr val="F97316">
              <a:alpha val="8000"/>
            </a:srgbClr>
          </a:solidFill>
          <a:ln w="12700">
            <a:solidFill>
              <a:srgbClr val="F97316">
                <a:alpha val="0"/>
              </a:srgbClr>
            </a:solidFill>
            <a:prstDash val="solid"/>
          </a:ln>
        </p:spPr>
      </p:sp>
      <p:sp>
        <p:nvSpPr>
          <p:cNvPr id="3" name="Shape 1"/>
          <p:cNvSpPr/>
          <p:nvPr/>
        </p:nvSpPr>
        <p:spPr>
          <a:xfrm>
            <a:off x="-914400" y="5120640"/>
            <a:ext cx="4023360" cy="4023360"/>
          </a:xfrm>
          <a:prstGeom prst="ellipse">
            <a:avLst/>
          </a:prstGeom>
          <a:solidFill>
            <a:srgbClr val="14B8A6">
              <a:alpha val="6000"/>
            </a:srgbClr>
          </a:solidFill>
          <a:ln w="12700">
            <a:solidFill>
              <a:srgbClr val="14B8A6">
                <a:alpha val="0"/>
              </a:srgbClr>
            </a:solidFill>
            <a:prstDash val="solid"/>
          </a:ln>
        </p:spPr>
      </p:sp>
      <p:sp>
        <p:nvSpPr>
          <p:cNvPr id="4" name="Shape 2"/>
          <p:cNvSpPr/>
          <p:nvPr/>
        </p:nvSpPr>
        <p:spPr>
          <a:xfrm>
            <a:off x="0" y="0"/>
            <a:ext cx="12191695" cy="73152"/>
          </a:xfrm>
          <a:prstGeom prst="rect">
            <a:avLst/>
          </a:prstGeom>
          <a:solidFill>
            <a:srgbClr val="F97316">
              <a:alpha val="80000"/>
            </a:srgbClr>
          </a:solidFill>
          <a:ln w="12700">
            <a:solidFill>
              <a:srgbClr val="F97316">
                <a:alpha val="0"/>
              </a:srgbClr>
            </a:solidFill>
            <a:prstDash val="solid"/>
          </a:ln>
        </p:spPr>
      </p:sp>
      <p:sp>
        <p:nvSpPr>
          <p:cNvPr id="5" name="Text 3"/>
          <p:cNvSpPr/>
          <p:nvPr/>
        </p:nvSpPr>
        <p:spPr>
          <a:xfrm>
            <a:off x="658368" y="420624"/>
            <a:ext cx="2560320" cy="182880"/>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SHOW THE RIGHT EVIDENCE</a:t>
            </a:r>
            <a:endParaRPr lang="en-US" sz="1000" dirty="0"/>
          </a:p>
        </p:txBody>
      </p:sp>
      <p:sp>
        <p:nvSpPr>
          <p:cNvPr id="6" name="Text 4"/>
          <p:cNvSpPr/>
          <p:nvPr/>
        </p:nvSpPr>
        <p:spPr>
          <a:xfrm>
            <a:off x="621792" y="694944"/>
            <a:ext cx="7863840" cy="713232"/>
          </a:xfrm>
          <a:prstGeom prst="rect">
            <a:avLst/>
          </a:prstGeom>
          <a:noFill/>
          <a:ln/>
        </p:spPr>
        <p:txBody>
          <a:bodyPr wrap="square" lIns="0" tIns="0" rIns="0" bIns="0" rtlCol="0" anchor="ctr">
            <a:normAutofit/>
          </a:bodyPr>
          <a:lstStyle/>
          <a:p>
            <a:pPr indent="0" marL="0">
              <a:buNone/>
            </a:pPr>
            <a:r>
              <a:rPr lang="en-US" sz="2400" b="1" dirty="0">
                <a:solidFill>
                  <a:srgbClr val="1F2937"/>
                </a:solidFill>
                <a:latin typeface="Aptos Display" pitchFamily="34" charset="0"/>
                <a:ea typeface="Aptos Display" pitchFamily="34" charset="-122"/>
                <a:cs typeface="Aptos Display" pitchFamily="34" charset="-120"/>
              </a:rPr>
              <a:t>Show only the evidence that matters</a:t>
            </a:r>
            <a:endParaRPr lang="en-US" sz="2400" dirty="0"/>
          </a:p>
        </p:txBody>
      </p:sp>
      <p:sp>
        <p:nvSpPr>
          <p:cNvPr id="7" name="Text 5"/>
          <p:cNvSpPr/>
          <p:nvPr/>
        </p:nvSpPr>
        <p:spPr>
          <a:xfrm>
            <a:off x="658368" y="1417320"/>
            <a:ext cx="8138160" cy="347472"/>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Exploratory work belongs behind the scenes. Explanatory work belongs on the slide.</a:t>
            </a:r>
            <a:endParaRPr lang="en-US" sz="1300" dirty="0"/>
          </a:p>
        </p:txBody>
      </p:sp>
      <p:sp>
        <p:nvSpPr>
          <p:cNvPr id="8" name="Shape 6"/>
          <p:cNvSpPr/>
          <p:nvPr/>
        </p:nvSpPr>
        <p:spPr>
          <a:xfrm>
            <a:off x="731520" y="1828800"/>
            <a:ext cx="5166360" cy="3520440"/>
          </a:xfrm>
          <a:prstGeom prst="roundRect">
            <a:avLst>
              <a:gd name="adj" fmla="val 2078"/>
            </a:avLst>
          </a:prstGeom>
          <a:solidFill>
            <a:srgbClr val="FFF9F6"/>
          </a:solidFill>
          <a:ln w="12700">
            <a:solidFill>
              <a:srgbClr val="E7E1D6"/>
            </a:solidFill>
            <a:prstDash val="solid"/>
          </a:ln>
        </p:spPr>
      </p:sp>
      <p:sp>
        <p:nvSpPr>
          <p:cNvPr id="9" name="Text 7"/>
          <p:cNvSpPr/>
          <p:nvPr/>
        </p:nvSpPr>
        <p:spPr>
          <a:xfrm>
            <a:off x="950976" y="2029968"/>
            <a:ext cx="1920240" cy="219456"/>
          </a:xfrm>
          <a:prstGeom prst="rect">
            <a:avLst/>
          </a:prstGeom>
          <a:noFill/>
          <a:ln/>
        </p:spPr>
        <p:txBody>
          <a:bodyPr wrap="square" lIns="0" tIns="0" rIns="0" bIns="0" rtlCol="0" anchor="ctr"/>
          <a:lstStyle/>
          <a:p>
            <a:pPr indent="0" marL="0">
              <a:buNone/>
            </a:pPr>
            <a:r>
              <a:rPr lang="en-US" sz="1600" b="1" dirty="0">
                <a:solidFill>
                  <a:srgbClr val="1F2937"/>
                </a:solidFill>
                <a:latin typeface="Aptos Display" pitchFamily="34" charset="0"/>
                <a:ea typeface="Aptos Display" pitchFamily="34" charset="-122"/>
                <a:cs typeface="Aptos Display" pitchFamily="34" charset="-120"/>
              </a:rPr>
              <a:t>Exploratory analysis</a:t>
            </a:r>
            <a:endParaRPr lang="en-US" sz="1600" dirty="0"/>
          </a:p>
        </p:txBody>
      </p:sp>
      <p:sp>
        <p:nvSpPr>
          <p:cNvPr id="10" name="Text 8"/>
          <p:cNvSpPr/>
          <p:nvPr/>
        </p:nvSpPr>
        <p:spPr>
          <a:xfrm>
            <a:off x="941832" y="2414016"/>
            <a:ext cx="1005840" cy="201168"/>
          </a:xfrm>
          <a:prstGeom prst="rect">
            <a:avLst/>
          </a:prstGeom>
          <a:noFill/>
          <a:ln/>
        </p:spPr>
        <p:txBody>
          <a:bodyPr wrap="square" lIns="0" tIns="0" rIns="0" bIns="0" rtlCol="0" anchor="ctr"/>
          <a:lstStyle/>
          <a:p>
            <a:pPr indent="0" marL="0">
              <a:buNone/>
            </a:pPr>
            <a:r>
              <a:rPr lang="en-US" sz="1200" b="1" dirty="0">
                <a:solidFill>
                  <a:srgbClr val="64748B"/>
                </a:solidFill>
                <a:latin typeface="Aptos" pitchFamily="34" charset="0"/>
                <a:ea typeface="Aptos" pitchFamily="34" charset="-122"/>
                <a:cs typeface="Aptos" pitchFamily="34" charset="-120"/>
              </a:rPr>
              <a:t>100 rocks</a:t>
            </a:r>
            <a:endParaRPr lang="en-US" sz="1200" dirty="0"/>
          </a:p>
        </p:txBody>
      </p:sp>
      <p:sp>
        <p:nvSpPr>
          <p:cNvPr id="11" name="Shape 9"/>
          <p:cNvSpPr/>
          <p:nvPr/>
        </p:nvSpPr>
        <p:spPr>
          <a:xfrm>
            <a:off x="914400" y="2743200"/>
            <a:ext cx="438912" cy="347472"/>
          </a:xfrm>
          <a:prstGeom prst="ellipse">
            <a:avLst/>
          </a:prstGeom>
          <a:solidFill>
            <a:srgbClr val="CBD5E1">
              <a:alpha val="85000"/>
            </a:srgbClr>
          </a:solidFill>
          <a:ln w="12700">
            <a:solidFill>
              <a:srgbClr val="CBD5E1"/>
            </a:solidFill>
            <a:prstDash val="solid"/>
          </a:ln>
        </p:spPr>
      </p:sp>
      <p:sp>
        <p:nvSpPr>
          <p:cNvPr id="12" name="Shape 10"/>
          <p:cNvSpPr/>
          <p:nvPr/>
        </p:nvSpPr>
        <p:spPr>
          <a:xfrm>
            <a:off x="1536192" y="2743200"/>
            <a:ext cx="438912" cy="347472"/>
          </a:xfrm>
          <a:prstGeom prst="ellipse">
            <a:avLst/>
          </a:prstGeom>
          <a:solidFill>
            <a:srgbClr val="CBD5E1">
              <a:alpha val="77000"/>
            </a:srgbClr>
          </a:solidFill>
          <a:ln w="12700">
            <a:solidFill>
              <a:srgbClr val="CBD5E1"/>
            </a:solidFill>
            <a:prstDash val="solid"/>
          </a:ln>
        </p:spPr>
      </p:sp>
      <p:sp>
        <p:nvSpPr>
          <p:cNvPr id="13" name="Shape 11"/>
          <p:cNvSpPr/>
          <p:nvPr/>
        </p:nvSpPr>
        <p:spPr>
          <a:xfrm>
            <a:off x="2157984" y="2743200"/>
            <a:ext cx="438912" cy="347472"/>
          </a:xfrm>
          <a:prstGeom prst="ellipse">
            <a:avLst/>
          </a:prstGeom>
          <a:solidFill>
            <a:srgbClr val="CBD5E1">
              <a:alpha val="69000"/>
            </a:srgbClr>
          </a:solidFill>
          <a:ln w="12700">
            <a:solidFill>
              <a:srgbClr val="CBD5E1"/>
            </a:solidFill>
            <a:prstDash val="solid"/>
          </a:ln>
        </p:spPr>
      </p:sp>
      <p:sp>
        <p:nvSpPr>
          <p:cNvPr id="14" name="Shape 12"/>
          <p:cNvSpPr/>
          <p:nvPr/>
        </p:nvSpPr>
        <p:spPr>
          <a:xfrm>
            <a:off x="2779776" y="2743200"/>
            <a:ext cx="438912" cy="347472"/>
          </a:xfrm>
          <a:prstGeom prst="ellipse">
            <a:avLst/>
          </a:prstGeom>
          <a:solidFill>
            <a:srgbClr val="CBD5E1">
              <a:alpha val="85000"/>
            </a:srgbClr>
          </a:solidFill>
          <a:ln w="12700">
            <a:solidFill>
              <a:srgbClr val="CBD5E1"/>
            </a:solidFill>
            <a:prstDash val="solid"/>
          </a:ln>
        </p:spPr>
      </p:sp>
      <p:sp>
        <p:nvSpPr>
          <p:cNvPr id="15" name="Shape 13"/>
          <p:cNvSpPr/>
          <p:nvPr/>
        </p:nvSpPr>
        <p:spPr>
          <a:xfrm>
            <a:off x="3401568" y="2743200"/>
            <a:ext cx="438912" cy="347472"/>
          </a:xfrm>
          <a:prstGeom prst="ellipse">
            <a:avLst/>
          </a:prstGeom>
          <a:solidFill>
            <a:srgbClr val="CBD5E1">
              <a:alpha val="77000"/>
            </a:srgbClr>
          </a:solidFill>
          <a:ln w="12700">
            <a:solidFill>
              <a:srgbClr val="CBD5E1"/>
            </a:solidFill>
            <a:prstDash val="solid"/>
          </a:ln>
        </p:spPr>
      </p:sp>
      <p:sp>
        <p:nvSpPr>
          <p:cNvPr id="16" name="Shape 14"/>
          <p:cNvSpPr/>
          <p:nvPr/>
        </p:nvSpPr>
        <p:spPr>
          <a:xfrm>
            <a:off x="4023360" y="2743200"/>
            <a:ext cx="438912" cy="347472"/>
          </a:xfrm>
          <a:prstGeom prst="ellipse">
            <a:avLst/>
          </a:prstGeom>
          <a:solidFill>
            <a:srgbClr val="CBD5E1">
              <a:alpha val="69000"/>
            </a:srgbClr>
          </a:solidFill>
          <a:ln w="12700">
            <a:solidFill>
              <a:srgbClr val="CBD5E1"/>
            </a:solidFill>
            <a:prstDash val="solid"/>
          </a:ln>
        </p:spPr>
      </p:sp>
      <p:sp>
        <p:nvSpPr>
          <p:cNvPr id="17" name="Shape 15"/>
          <p:cNvSpPr/>
          <p:nvPr/>
        </p:nvSpPr>
        <p:spPr>
          <a:xfrm>
            <a:off x="914400" y="3456432"/>
            <a:ext cx="438912" cy="347472"/>
          </a:xfrm>
          <a:prstGeom prst="ellipse">
            <a:avLst/>
          </a:prstGeom>
          <a:solidFill>
            <a:srgbClr val="CBD5E1">
              <a:alpha val="85000"/>
            </a:srgbClr>
          </a:solidFill>
          <a:ln w="12700">
            <a:solidFill>
              <a:srgbClr val="CBD5E1"/>
            </a:solidFill>
            <a:prstDash val="solid"/>
          </a:ln>
        </p:spPr>
      </p:sp>
      <p:sp>
        <p:nvSpPr>
          <p:cNvPr id="18" name="Shape 16"/>
          <p:cNvSpPr/>
          <p:nvPr/>
        </p:nvSpPr>
        <p:spPr>
          <a:xfrm>
            <a:off x="1536192" y="3456432"/>
            <a:ext cx="438912" cy="347472"/>
          </a:xfrm>
          <a:prstGeom prst="ellipse">
            <a:avLst/>
          </a:prstGeom>
          <a:solidFill>
            <a:srgbClr val="CBD5E1">
              <a:alpha val="77000"/>
            </a:srgbClr>
          </a:solidFill>
          <a:ln w="12700">
            <a:solidFill>
              <a:srgbClr val="CBD5E1"/>
            </a:solidFill>
            <a:prstDash val="solid"/>
          </a:ln>
        </p:spPr>
      </p:sp>
      <p:sp>
        <p:nvSpPr>
          <p:cNvPr id="19" name="Shape 17"/>
          <p:cNvSpPr/>
          <p:nvPr/>
        </p:nvSpPr>
        <p:spPr>
          <a:xfrm>
            <a:off x="2157984" y="3456432"/>
            <a:ext cx="438912" cy="347472"/>
          </a:xfrm>
          <a:prstGeom prst="ellipse">
            <a:avLst/>
          </a:prstGeom>
          <a:solidFill>
            <a:srgbClr val="CBD5E1">
              <a:alpha val="69000"/>
            </a:srgbClr>
          </a:solidFill>
          <a:ln w="12700">
            <a:solidFill>
              <a:srgbClr val="CBD5E1"/>
            </a:solidFill>
            <a:prstDash val="solid"/>
          </a:ln>
        </p:spPr>
      </p:sp>
      <p:sp>
        <p:nvSpPr>
          <p:cNvPr id="20" name="Shape 18"/>
          <p:cNvSpPr/>
          <p:nvPr/>
        </p:nvSpPr>
        <p:spPr>
          <a:xfrm>
            <a:off x="2779776" y="3456432"/>
            <a:ext cx="438912" cy="347472"/>
          </a:xfrm>
          <a:prstGeom prst="ellipse">
            <a:avLst/>
          </a:prstGeom>
          <a:solidFill>
            <a:srgbClr val="CBD5E1">
              <a:alpha val="85000"/>
            </a:srgbClr>
          </a:solidFill>
          <a:ln w="12700">
            <a:solidFill>
              <a:srgbClr val="CBD5E1"/>
            </a:solidFill>
            <a:prstDash val="solid"/>
          </a:ln>
        </p:spPr>
      </p:sp>
      <p:sp>
        <p:nvSpPr>
          <p:cNvPr id="21" name="Shape 19"/>
          <p:cNvSpPr/>
          <p:nvPr/>
        </p:nvSpPr>
        <p:spPr>
          <a:xfrm>
            <a:off x="3401568" y="3456432"/>
            <a:ext cx="438912" cy="347472"/>
          </a:xfrm>
          <a:prstGeom prst="ellipse">
            <a:avLst/>
          </a:prstGeom>
          <a:solidFill>
            <a:srgbClr val="CBD5E1">
              <a:alpha val="77000"/>
            </a:srgbClr>
          </a:solidFill>
          <a:ln w="12700">
            <a:solidFill>
              <a:srgbClr val="CBD5E1"/>
            </a:solidFill>
            <a:prstDash val="solid"/>
          </a:ln>
        </p:spPr>
      </p:sp>
      <p:sp>
        <p:nvSpPr>
          <p:cNvPr id="22" name="Shape 20"/>
          <p:cNvSpPr/>
          <p:nvPr/>
        </p:nvSpPr>
        <p:spPr>
          <a:xfrm>
            <a:off x="4023360" y="3456432"/>
            <a:ext cx="438912" cy="347472"/>
          </a:xfrm>
          <a:prstGeom prst="ellipse">
            <a:avLst/>
          </a:prstGeom>
          <a:solidFill>
            <a:srgbClr val="CBD5E1">
              <a:alpha val="69000"/>
            </a:srgbClr>
          </a:solidFill>
          <a:ln w="12700">
            <a:solidFill>
              <a:srgbClr val="CBD5E1"/>
            </a:solidFill>
            <a:prstDash val="solid"/>
          </a:ln>
        </p:spPr>
      </p:sp>
      <p:sp>
        <p:nvSpPr>
          <p:cNvPr id="23" name="Shape 21"/>
          <p:cNvSpPr/>
          <p:nvPr/>
        </p:nvSpPr>
        <p:spPr>
          <a:xfrm>
            <a:off x="914400" y="4169664"/>
            <a:ext cx="438912" cy="347472"/>
          </a:xfrm>
          <a:prstGeom prst="ellipse">
            <a:avLst/>
          </a:prstGeom>
          <a:solidFill>
            <a:srgbClr val="CBD5E1">
              <a:alpha val="85000"/>
            </a:srgbClr>
          </a:solidFill>
          <a:ln w="12700">
            <a:solidFill>
              <a:srgbClr val="CBD5E1"/>
            </a:solidFill>
            <a:prstDash val="solid"/>
          </a:ln>
        </p:spPr>
      </p:sp>
      <p:sp>
        <p:nvSpPr>
          <p:cNvPr id="24" name="Shape 22"/>
          <p:cNvSpPr/>
          <p:nvPr/>
        </p:nvSpPr>
        <p:spPr>
          <a:xfrm>
            <a:off x="1536192" y="4169664"/>
            <a:ext cx="438912" cy="347472"/>
          </a:xfrm>
          <a:prstGeom prst="ellipse">
            <a:avLst/>
          </a:prstGeom>
          <a:solidFill>
            <a:srgbClr val="CBD5E1">
              <a:alpha val="77000"/>
            </a:srgbClr>
          </a:solidFill>
          <a:ln w="12700">
            <a:solidFill>
              <a:srgbClr val="CBD5E1"/>
            </a:solidFill>
            <a:prstDash val="solid"/>
          </a:ln>
        </p:spPr>
      </p:sp>
      <p:sp>
        <p:nvSpPr>
          <p:cNvPr id="25" name="Shape 23"/>
          <p:cNvSpPr/>
          <p:nvPr/>
        </p:nvSpPr>
        <p:spPr>
          <a:xfrm>
            <a:off x="2157984" y="4169664"/>
            <a:ext cx="438912" cy="347472"/>
          </a:xfrm>
          <a:prstGeom prst="ellipse">
            <a:avLst/>
          </a:prstGeom>
          <a:solidFill>
            <a:srgbClr val="CBD5E1">
              <a:alpha val="69000"/>
            </a:srgbClr>
          </a:solidFill>
          <a:ln w="12700">
            <a:solidFill>
              <a:srgbClr val="CBD5E1"/>
            </a:solidFill>
            <a:prstDash val="solid"/>
          </a:ln>
        </p:spPr>
      </p:sp>
      <p:sp>
        <p:nvSpPr>
          <p:cNvPr id="26" name="Shape 24"/>
          <p:cNvSpPr/>
          <p:nvPr/>
        </p:nvSpPr>
        <p:spPr>
          <a:xfrm>
            <a:off x="2779776" y="4169664"/>
            <a:ext cx="438912" cy="347472"/>
          </a:xfrm>
          <a:prstGeom prst="ellipse">
            <a:avLst/>
          </a:prstGeom>
          <a:solidFill>
            <a:srgbClr val="CBD5E1">
              <a:alpha val="85000"/>
            </a:srgbClr>
          </a:solidFill>
          <a:ln w="12700">
            <a:solidFill>
              <a:srgbClr val="CBD5E1"/>
            </a:solidFill>
            <a:prstDash val="solid"/>
          </a:ln>
        </p:spPr>
      </p:sp>
      <p:sp>
        <p:nvSpPr>
          <p:cNvPr id="27" name="Shape 25"/>
          <p:cNvSpPr/>
          <p:nvPr/>
        </p:nvSpPr>
        <p:spPr>
          <a:xfrm>
            <a:off x="3401568" y="4169664"/>
            <a:ext cx="438912" cy="347472"/>
          </a:xfrm>
          <a:prstGeom prst="ellipse">
            <a:avLst/>
          </a:prstGeom>
          <a:solidFill>
            <a:srgbClr val="CBD5E1">
              <a:alpha val="77000"/>
            </a:srgbClr>
          </a:solidFill>
          <a:ln w="12700">
            <a:solidFill>
              <a:srgbClr val="CBD5E1"/>
            </a:solidFill>
            <a:prstDash val="solid"/>
          </a:ln>
        </p:spPr>
      </p:sp>
      <p:sp>
        <p:nvSpPr>
          <p:cNvPr id="28" name="Shape 26"/>
          <p:cNvSpPr/>
          <p:nvPr/>
        </p:nvSpPr>
        <p:spPr>
          <a:xfrm>
            <a:off x="4023360" y="4169664"/>
            <a:ext cx="438912" cy="347472"/>
          </a:xfrm>
          <a:prstGeom prst="ellipse">
            <a:avLst/>
          </a:prstGeom>
          <a:solidFill>
            <a:srgbClr val="CBD5E1">
              <a:alpha val="69000"/>
            </a:srgbClr>
          </a:solidFill>
          <a:ln w="12700">
            <a:solidFill>
              <a:srgbClr val="CBD5E1"/>
            </a:solidFill>
            <a:prstDash val="solid"/>
          </a:ln>
        </p:spPr>
      </p:sp>
      <p:sp>
        <p:nvSpPr>
          <p:cNvPr id="29" name="Text 27"/>
          <p:cNvSpPr/>
          <p:nvPr/>
        </p:nvSpPr>
        <p:spPr>
          <a:xfrm>
            <a:off x="1005840" y="4892040"/>
            <a:ext cx="1920240" cy="201168"/>
          </a:xfrm>
          <a:prstGeom prst="rect">
            <a:avLst/>
          </a:prstGeom>
          <a:noFill/>
          <a:ln/>
        </p:spPr>
        <p:txBody>
          <a:bodyPr wrap="square" lIns="0" tIns="0" rIns="0" bIns="0" rtlCol="0" anchor="ctr"/>
          <a:lstStyle/>
          <a:p>
            <a:pPr indent="0" marL="0">
              <a:buNone/>
            </a:pPr>
            <a:r>
              <a:rPr lang="en-US" sz="1100" dirty="0">
                <a:solidFill>
                  <a:srgbClr val="64748B"/>
                </a:solidFill>
                <a:latin typeface="Aptos" pitchFamily="34" charset="0"/>
                <a:ea typeface="Aptos" pitchFamily="34" charset="-122"/>
                <a:cs typeface="Aptos" pitchFamily="34" charset="-120"/>
              </a:rPr>
              <a:t>All the work</a:t>
            </a:r>
            <a:endParaRPr lang="en-US" sz="1100" dirty="0"/>
          </a:p>
        </p:txBody>
      </p:sp>
      <p:sp>
        <p:nvSpPr>
          <p:cNvPr id="30" name="Shape 28"/>
          <p:cNvSpPr/>
          <p:nvPr/>
        </p:nvSpPr>
        <p:spPr>
          <a:xfrm>
            <a:off x="6236208" y="1828800"/>
            <a:ext cx="5212080" cy="3520440"/>
          </a:xfrm>
          <a:prstGeom prst="roundRect">
            <a:avLst>
              <a:gd name="adj" fmla="val 2078"/>
            </a:avLst>
          </a:prstGeom>
          <a:solidFill>
            <a:srgbClr val="F2FAF7"/>
          </a:solidFill>
          <a:ln w="12700">
            <a:solidFill>
              <a:srgbClr val="E7E1D6"/>
            </a:solidFill>
            <a:prstDash val="solid"/>
          </a:ln>
        </p:spPr>
      </p:sp>
      <p:sp>
        <p:nvSpPr>
          <p:cNvPr id="31" name="Text 29"/>
          <p:cNvSpPr/>
          <p:nvPr/>
        </p:nvSpPr>
        <p:spPr>
          <a:xfrm>
            <a:off x="6473952" y="2029968"/>
            <a:ext cx="1828800" cy="219456"/>
          </a:xfrm>
          <a:prstGeom prst="rect">
            <a:avLst/>
          </a:prstGeom>
          <a:noFill/>
          <a:ln/>
        </p:spPr>
        <p:txBody>
          <a:bodyPr wrap="square" lIns="0" tIns="0" rIns="0" bIns="0" rtlCol="0" anchor="ctr"/>
          <a:lstStyle/>
          <a:p>
            <a:pPr indent="0" marL="0">
              <a:buNone/>
            </a:pPr>
            <a:r>
              <a:rPr lang="en-US" sz="1600" b="1" dirty="0">
                <a:solidFill>
                  <a:srgbClr val="1F2937"/>
                </a:solidFill>
                <a:latin typeface="Aptos Display" pitchFamily="34" charset="0"/>
                <a:ea typeface="Aptos Display" pitchFamily="34" charset="-122"/>
                <a:cs typeface="Aptos Display" pitchFamily="34" charset="-120"/>
              </a:rPr>
              <a:t>Explanatory story</a:t>
            </a:r>
            <a:endParaRPr lang="en-US" sz="1600" dirty="0"/>
          </a:p>
        </p:txBody>
      </p:sp>
      <p:sp>
        <p:nvSpPr>
          <p:cNvPr id="32" name="Text 30"/>
          <p:cNvSpPr/>
          <p:nvPr/>
        </p:nvSpPr>
        <p:spPr>
          <a:xfrm>
            <a:off x="6473952" y="2414016"/>
            <a:ext cx="1005840" cy="201168"/>
          </a:xfrm>
          <a:prstGeom prst="rect">
            <a:avLst/>
          </a:prstGeom>
          <a:noFill/>
          <a:ln/>
        </p:spPr>
        <p:txBody>
          <a:bodyPr wrap="square" lIns="0" tIns="0" rIns="0" bIns="0" rtlCol="0" anchor="ctr"/>
          <a:lstStyle/>
          <a:p>
            <a:pPr indent="0" marL="0">
              <a:buNone/>
            </a:pPr>
            <a:r>
              <a:rPr lang="en-US" sz="1200" b="1" dirty="0">
                <a:solidFill>
                  <a:srgbClr val="14B8A6"/>
                </a:solidFill>
                <a:latin typeface="Aptos" pitchFamily="34" charset="0"/>
                <a:ea typeface="Aptos" pitchFamily="34" charset="-122"/>
                <a:cs typeface="Aptos" pitchFamily="34" charset="-120"/>
              </a:rPr>
              <a:t>2 gems</a:t>
            </a:r>
            <a:endParaRPr lang="en-US" sz="1200" dirty="0"/>
          </a:p>
        </p:txBody>
      </p:sp>
      <p:sp>
        <p:nvSpPr>
          <p:cNvPr id="33" name="Shape 31"/>
          <p:cNvSpPr/>
          <p:nvPr/>
        </p:nvSpPr>
        <p:spPr>
          <a:xfrm>
            <a:off x="6720840" y="2788920"/>
            <a:ext cx="1234440" cy="1417320"/>
          </a:xfrm>
          <a:prstGeom prst="diamond">
            <a:avLst/>
          </a:prstGeom>
          <a:solidFill>
            <a:srgbClr val="9EE7D6">
              <a:alpha val="85000"/>
            </a:srgbClr>
          </a:solidFill>
          <a:ln w="12700">
            <a:solidFill>
              <a:srgbClr val="14B8A6"/>
            </a:solidFill>
            <a:prstDash val="solid"/>
          </a:ln>
        </p:spPr>
      </p:sp>
      <p:sp>
        <p:nvSpPr>
          <p:cNvPr id="34" name="Shape 32"/>
          <p:cNvSpPr/>
          <p:nvPr/>
        </p:nvSpPr>
        <p:spPr>
          <a:xfrm>
            <a:off x="8412480" y="2788920"/>
            <a:ext cx="1234440" cy="1417320"/>
          </a:xfrm>
          <a:prstGeom prst="diamond">
            <a:avLst/>
          </a:prstGeom>
          <a:solidFill>
            <a:srgbClr val="FBC2A1">
              <a:alpha val="88000"/>
            </a:srgbClr>
          </a:solidFill>
          <a:ln w="12700">
            <a:solidFill>
              <a:srgbClr val="F97316"/>
            </a:solidFill>
            <a:prstDash val="solid"/>
          </a:ln>
        </p:spPr>
      </p:sp>
      <p:sp>
        <p:nvSpPr>
          <p:cNvPr id="35" name="Text 33"/>
          <p:cNvSpPr/>
          <p:nvPr/>
        </p:nvSpPr>
        <p:spPr>
          <a:xfrm>
            <a:off x="6492240" y="4718304"/>
            <a:ext cx="1828800" cy="201168"/>
          </a:xfrm>
          <a:prstGeom prst="rect">
            <a:avLst/>
          </a:prstGeom>
          <a:noFill/>
          <a:ln/>
        </p:spPr>
        <p:txBody>
          <a:bodyPr wrap="square" lIns="0" tIns="0" rIns="0" bIns="0" rtlCol="0" anchor="ctr"/>
          <a:lstStyle/>
          <a:p>
            <a:pPr indent="0" marL="0">
              <a:buNone/>
            </a:pPr>
            <a:r>
              <a:rPr lang="en-US" sz="1100" dirty="0">
                <a:solidFill>
                  <a:srgbClr val="64748B"/>
                </a:solidFill>
                <a:latin typeface="Aptos" pitchFamily="34" charset="0"/>
                <a:ea typeface="Aptos" pitchFamily="34" charset="-122"/>
                <a:cs typeface="Aptos" pitchFamily="34" charset="-120"/>
              </a:rPr>
              <a:t>The two findings</a:t>
            </a:r>
            <a:endParaRPr lang="en-US" sz="1100" dirty="0"/>
          </a:p>
        </p:txBody>
      </p:sp>
      <p:sp>
        <p:nvSpPr>
          <p:cNvPr id="36" name="Text 34"/>
          <p:cNvSpPr/>
          <p:nvPr/>
        </p:nvSpPr>
        <p:spPr>
          <a:xfrm>
            <a:off x="6446520" y="4956048"/>
            <a:ext cx="4389120" cy="274320"/>
          </a:xfrm>
          <a:prstGeom prst="rect">
            <a:avLst/>
          </a:prstGeom>
          <a:noFill/>
          <a:ln/>
        </p:spPr>
        <p:txBody>
          <a:bodyPr wrap="square" lIns="0" tIns="0" rIns="0" bIns="0" rtlCol="0" anchor="ctr"/>
          <a:lstStyle/>
          <a:p>
            <a:pPr indent="0" marL="0">
              <a:buNone/>
            </a:pPr>
            <a:r>
              <a:rPr lang="en-US" sz="1500" b="1" dirty="0">
                <a:solidFill>
                  <a:srgbClr val="1F2937"/>
                </a:solidFill>
                <a:latin typeface="Aptos Display" pitchFamily="34" charset="0"/>
                <a:ea typeface="Aptos Display" pitchFamily="34" charset="-122"/>
                <a:cs typeface="Aptos Display" pitchFamily="34" charset="-120"/>
              </a:rPr>
              <a:t>Use fewer numbers, fewer bullets, and a sharper sentence.</a:t>
            </a:r>
            <a:endParaRPr lang="en-US" sz="1500" dirty="0"/>
          </a:p>
        </p:txBody>
      </p:sp>
      <p:sp>
        <p:nvSpPr>
          <p:cNvPr id="37" name="Text 35"/>
          <p:cNvSpPr/>
          <p:nvPr/>
        </p:nvSpPr>
        <p:spPr>
          <a:xfrm>
            <a:off x="868680" y="5715000"/>
            <a:ext cx="9966960" cy="228600"/>
          </a:xfrm>
          <a:prstGeom prst="rect">
            <a:avLst/>
          </a:prstGeom>
          <a:noFill/>
          <a:ln/>
        </p:spPr>
        <p:txBody>
          <a:bodyPr wrap="square" lIns="0" tIns="0" rIns="0" bIns="0" rtlCol="0" anchor="ctr"/>
          <a:lstStyle/>
          <a:p>
            <a:pPr algn="ctr" indent="0" marL="0">
              <a:buNone/>
            </a:pPr>
            <a:r>
              <a:rPr lang="en-US" sz="1150" i="1" dirty="0">
                <a:solidFill>
                  <a:srgbClr val="64748B"/>
                </a:solidFill>
                <a:latin typeface="Aptos" pitchFamily="34" charset="0"/>
                <a:ea typeface="Aptos" pitchFamily="34" charset="-122"/>
                <a:cs typeface="Aptos" pitchFamily="34" charset="-120"/>
              </a:rPr>
              <a:t>The audience should see the conclusion, not your entire scratchpad.</a:t>
            </a:r>
            <a:endParaRPr lang="en-US" sz="1150" dirty="0"/>
          </a:p>
        </p:txBody>
      </p:sp>
      <p:sp>
        <p:nvSpPr>
          <p:cNvPr id="38" name="Text 36"/>
          <p:cNvSpPr/>
          <p:nvPr/>
        </p:nvSpPr>
        <p:spPr>
          <a:xfrm>
            <a:off x="11475720" y="6446520"/>
            <a:ext cx="411480" cy="182880"/>
          </a:xfrm>
          <a:prstGeom prst="rect">
            <a:avLst/>
          </a:prstGeom>
          <a:noFill/>
          <a:ln/>
        </p:spPr>
        <p:txBody>
          <a:bodyPr wrap="square" lIns="0" tIns="0" rIns="0" bIns="0" rtlCol="0" anchor="ctr"/>
          <a:lstStyle/>
          <a:p>
            <a:pPr algn="r" indent="0" marL="0">
              <a:buNone/>
            </a:pPr>
            <a:r>
              <a:rPr lang="en-US" sz="900" dirty="0">
                <a:solidFill>
                  <a:srgbClr val="64748B"/>
                </a:solidFill>
                <a:latin typeface="Aptos" pitchFamily="34" charset="0"/>
                <a:ea typeface="Aptos" pitchFamily="34" charset="-122"/>
                <a:cs typeface="Aptos" pitchFamily="34" charset="-120"/>
              </a:rPr>
              <a:t>05</a:t>
            </a:r>
            <a:endParaRPr lang="en-US" sz="900" dirty="0"/>
          </a:p>
        </p:txBody>
      </p:sp>
      <p:sp>
        <p:nvSpPr>
          <p:cNvPr id="39" name="Text 37"/>
          <p:cNvSpPr/>
          <p:nvPr/>
        </p:nvSpPr>
        <p:spPr>
          <a:xfrm>
            <a:off x="594360" y="6455664"/>
            <a:ext cx="2560320" cy="146304"/>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Storytelling for academic talks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9326880" y="-914400"/>
            <a:ext cx="4114800" cy="4114800"/>
          </a:xfrm>
          <a:prstGeom prst="ellipse">
            <a:avLst/>
          </a:prstGeom>
          <a:solidFill>
            <a:srgbClr val="F97316">
              <a:alpha val="8000"/>
            </a:srgbClr>
          </a:solidFill>
          <a:ln w="12700">
            <a:solidFill>
              <a:srgbClr val="F97316">
                <a:alpha val="0"/>
              </a:srgbClr>
            </a:solidFill>
            <a:prstDash val="solid"/>
          </a:ln>
        </p:spPr>
      </p:sp>
      <p:sp>
        <p:nvSpPr>
          <p:cNvPr id="3" name="Shape 1"/>
          <p:cNvSpPr/>
          <p:nvPr/>
        </p:nvSpPr>
        <p:spPr>
          <a:xfrm>
            <a:off x="-914400" y="5120640"/>
            <a:ext cx="4023360" cy="4023360"/>
          </a:xfrm>
          <a:prstGeom prst="ellipse">
            <a:avLst/>
          </a:prstGeom>
          <a:solidFill>
            <a:srgbClr val="14B8A6">
              <a:alpha val="6000"/>
            </a:srgbClr>
          </a:solidFill>
          <a:ln w="12700">
            <a:solidFill>
              <a:srgbClr val="14B8A6">
                <a:alpha val="0"/>
              </a:srgbClr>
            </a:solidFill>
            <a:prstDash val="solid"/>
          </a:ln>
        </p:spPr>
      </p:sp>
      <p:sp>
        <p:nvSpPr>
          <p:cNvPr id="4" name="Shape 2"/>
          <p:cNvSpPr/>
          <p:nvPr/>
        </p:nvSpPr>
        <p:spPr>
          <a:xfrm>
            <a:off x="0" y="0"/>
            <a:ext cx="12191695" cy="73152"/>
          </a:xfrm>
          <a:prstGeom prst="rect">
            <a:avLst/>
          </a:prstGeom>
          <a:solidFill>
            <a:srgbClr val="F97316">
              <a:alpha val="80000"/>
            </a:srgbClr>
          </a:solidFill>
          <a:ln w="12700">
            <a:solidFill>
              <a:srgbClr val="F97316">
                <a:alpha val="0"/>
              </a:srgbClr>
            </a:solidFill>
            <a:prstDash val="solid"/>
          </a:ln>
        </p:spPr>
      </p:sp>
      <p:sp>
        <p:nvSpPr>
          <p:cNvPr id="5" name="Text 3"/>
          <p:cNvSpPr/>
          <p:nvPr/>
        </p:nvSpPr>
        <p:spPr>
          <a:xfrm>
            <a:off x="658368" y="420624"/>
            <a:ext cx="2560320" cy="182880"/>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KEEP ATTENTION MOVING</a:t>
            </a:r>
            <a:endParaRPr lang="en-US" sz="1000" dirty="0"/>
          </a:p>
        </p:txBody>
      </p:sp>
      <p:sp>
        <p:nvSpPr>
          <p:cNvPr id="6" name="Text 4"/>
          <p:cNvSpPr/>
          <p:nvPr/>
        </p:nvSpPr>
        <p:spPr>
          <a:xfrm>
            <a:off x="621792" y="694944"/>
            <a:ext cx="7863840" cy="713232"/>
          </a:xfrm>
          <a:prstGeom prst="rect">
            <a:avLst/>
          </a:prstGeom>
          <a:noFill/>
          <a:ln/>
        </p:spPr>
        <p:txBody>
          <a:bodyPr wrap="square" lIns="0" tIns="0" rIns="0" bIns="0" rtlCol="0" anchor="ctr">
            <a:normAutofit/>
          </a:bodyPr>
          <a:lstStyle/>
          <a:p>
            <a:pPr indent="0" marL="0">
              <a:buNone/>
            </a:pPr>
            <a:r>
              <a:rPr lang="en-US" sz="2400" b="1" dirty="0">
                <a:solidFill>
                  <a:srgbClr val="1F2937"/>
                </a:solidFill>
                <a:latin typeface="Aptos Display" pitchFamily="34" charset="0"/>
                <a:ea typeface="Aptos Display" pitchFamily="34" charset="-122"/>
                <a:cs typeface="Aptos Display" pitchFamily="34" charset="-120"/>
              </a:rPr>
              <a:t>Transitions create momentum</a:t>
            </a:r>
            <a:endParaRPr lang="en-US" sz="2400" dirty="0"/>
          </a:p>
        </p:txBody>
      </p:sp>
      <p:sp>
        <p:nvSpPr>
          <p:cNvPr id="7" name="Text 5"/>
          <p:cNvSpPr/>
          <p:nvPr/>
        </p:nvSpPr>
        <p:spPr>
          <a:xfrm>
            <a:off x="658368" y="1417320"/>
            <a:ext cx="8138160" cy="347472"/>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Use verbal signposts, repeated visual motifs, and progressive reveal.</a:t>
            </a:r>
            <a:endParaRPr lang="en-US" sz="1300" dirty="0"/>
          </a:p>
        </p:txBody>
      </p:sp>
      <p:sp>
        <p:nvSpPr>
          <p:cNvPr id="8" name="Shape 6"/>
          <p:cNvSpPr/>
          <p:nvPr/>
        </p:nvSpPr>
        <p:spPr>
          <a:xfrm>
            <a:off x="987552" y="3063240"/>
            <a:ext cx="10012680" cy="0"/>
          </a:xfrm>
          <a:prstGeom prst="line">
            <a:avLst/>
          </a:prstGeom>
          <a:noFill/>
          <a:ln w="12700">
            <a:solidFill>
              <a:srgbClr val="E7E1D6"/>
            </a:solidFill>
            <a:prstDash val="solid"/>
          </a:ln>
        </p:spPr>
      </p:sp>
      <p:sp>
        <p:nvSpPr>
          <p:cNvPr id="9" name="Shape 7"/>
          <p:cNvSpPr/>
          <p:nvPr/>
        </p:nvSpPr>
        <p:spPr>
          <a:xfrm>
            <a:off x="2057400" y="2770632"/>
            <a:ext cx="585216" cy="585216"/>
          </a:xfrm>
          <a:prstGeom prst="ellipse">
            <a:avLst/>
          </a:prstGeom>
          <a:solidFill>
            <a:srgbClr val="FFFFFF"/>
          </a:solidFill>
          <a:ln w="12700">
            <a:solidFill>
              <a:srgbClr val="14B8A6"/>
            </a:solidFill>
            <a:prstDash val="solid"/>
          </a:ln>
        </p:spPr>
      </p:sp>
      <p:sp>
        <p:nvSpPr>
          <p:cNvPr id="10" name="Text 8"/>
          <p:cNvSpPr/>
          <p:nvPr/>
        </p:nvSpPr>
        <p:spPr>
          <a:xfrm>
            <a:off x="2057400" y="2907792"/>
            <a:ext cx="585216" cy="182880"/>
          </a:xfrm>
          <a:prstGeom prst="rect">
            <a:avLst/>
          </a:prstGeom>
          <a:noFill/>
          <a:ln/>
        </p:spPr>
        <p:txBody>
          <a:bodyPr wrap="square" lIns="0" tIns="0" rIns="0" bIns="0" rtlCol="0" anchor="ctr"/>
          <a:lstStyle/>
          <a:p>
            <a:pPr algn="ctr" indent="0" marL="0">
              <a:buNone/>
            </a:pPr>
            <a:r>
              <a:rPr lang="en-US" sz="1400" b="1" dirty="0">
                <a:solidFill>
                  <a:srgbClr val="14B8A6"/>
                </a:solidFill>
                <a:latin typeface="Aptos Display" pitchFamily="34" charset="0"/>
                <a:ea typeface="Aptos Display" pitchFamily="34" charset="-122"/>
                <a:cs typeface="Aptos Display" pitchFamily="34" charset="-120"/>
              </a:rPr>
              <a:t>1</a:t>
            </a:r>
            <a:endParaRPr lang="en-US" sz="1400" dirty="0"/>
          </a:p>
        </p:txBody>
      </p:sp>
      <p:sp>
        <p:nvSpPr>
          <p:cNvPr id="11" name="Text 9"/>
          <p:cNvSpPr/>
          <p:nvPr/>
        </p:nvSpPr>
        <p:spPr>
          <a:xfrm>
            <a:off x="1005840" y="2057400"/>
            <a:ext cx="3063240" cy="182880"/>
          </a:xfrm>
          <a:prstGeom prst="rect">
            <a:avLst/>
          </a:prstGeom>
          <a:noFill/>
          <a:ln/>
        </p:spPr>
        <p:txBody>
          <a:bodyPr wrap="square" lIns="0" tIns="0" rIns="0" bIns="0" rtlCol="0" anchor="ctr"/>
          <a:lstStyle/>
          <a:p>
            <a:pPr algn="ctr" indent="0" marL="0">
              <a:buNone/>
            </a:pPr>
            <a:r>
              <a:rPr lang="en-US" sz="900" b="1" dirty="0">
                <a:solidFill>
                  <a:srgbClr val="14B8A6"/>
                </a:solidFill>
                <a:latin typeface="Aptos" pitchFamily="34" charset="0"/>
                <a:ea typeface="Aptos" pitchFamily="34" charset="-122"/>
                <a:cs typeface="Aptos" pitchFamily="34" charset="-120"/>
              </a:rPr>
              <a:t>RECAP</a:t>
            </a:r>
            <a:endParaRPr lang="en-US" sz="900" dirty="0"/>
          </a:p>
        </p:txBody>
      </p:sp>
      <p:sp>
        <p:nvSpPr>
          <p:cNvPr id="12" name="Shape 10"/>
          <p:cNvSpPr/>
          <p:nvPr/>
        </p:nvSpPr>
        <p:spPr>
          <a:xfrm>
            <a:off x="1005840" y="3520440"/>
            <a:ext cx="3063240" cy="1600200"/>
          </a:xfrm>
          <a:prstGeom prst="roundRect">
            <a:avLst>
              <a:gd name="adj" fmla="val 4571"/>
            </a:avLst>
          </a:prstGeom>
          <a:solidFill>
            <a:srgbClr val="FFFDF8"/>
          </a:solidFill>
          <a:ln w="12700">
            <a:solidFill>
              <a:srgbClr val="E7E1D6"/>
            </a:solidFill>
            <a:prstDash val="solid"/>
          </a:ln>
        </p:spPr>
      </p:sp>
      <p:sp>
        <p:nvSpPr>
          <p:cNvPr id="13" name="Shape 11"/>
          <p:cNvSpPr/>
          <p:nvPr/>
        </p:nvSpPr>
        <p:spPr>
          <a:xfrm>
            <a:off x="1005840" y="3520440"/>
            <a:ext cx="118872" cy="1600200"/>
          </a:xfrm>
          <a:prstGeom prst="rect">
            <a:avLst/>
          </a:prstGeom>
          <a:solidFill>
            <a:srgbClr val="14B8A6"/>
          </a:solidFill>
          <a:ln w="12700">
            <a:solidFill>
              <a:srgbClr val="14B8A6">
                <a:alpha val="0"/>
              </a:srgbClr>
            </a:solidFill>
            <a:prstDash val="solid"/>
          </a:ln>
        </p:spPr>
      </p:sp>
      <p:sp>
        <p:nvSpPr>
          <p:cNvPr id="14" name="Text 12"/>
          <p:cNvSpPr/>
          <p:nvPr/>
        </p:nvSpPr>
        <p:spPr>
          <a:xfrm>
            <a:off x="1207008" y="3685032"/>
            <a:ext cx="2752344" cy="292608"/>
          </a:xfrm>
          <a:prstGeom prst="rect">
            <a:avLst/>
          </a:prstGeom>
          <a:noFill/>
          <a:ln/>
        </p:spPr>
        <p:txBody>
          <a:bodyPr wrap="square" lIns="0" tIns="0" rIns="0" bIns="0" rtlCol="0" anchor="ctr">
            <a:normAutofit/>
          </a:bodyPr>
          <a:lstStyle/>
          <a:p>
            <a:pPr indent="0" marL="0">
              <a:buNone/>
            </a:pPr>
            <a:r>
              <a:rPr lang="en-US" sz="1800" b="1" dirty="0">
                <a:solidFill>
                  <a:srgbClr val="1F2937"/>
                </a:solidFill>
                <a:latin typeface="Aptos Display" pitchFamily="34" charset="0"/>
                <a:ea typeface="Aptos Display" pitchFamily="34" charset="-122"/>
                <a:cs typeface="Aptos Display" pitchFamily="34" charset="-120"/>
              </a:rPr>
              <a:t>What we just saw</a:t>
            </a:r>
            <a:endParaRPr lang="en-US" sz="1800" dirty="0"/>
          </a:p>
        </p:txBody>
      </p:sp>
      <p:sp>
        <p:nvSpPr>
          <p:cNvPr id="15" name="Text 13"/>
          <p:cNvSpPr/>
          <p:nvPr/>
        </p:nvSpPr>
        <p:spPr>
          <a:xfrm>
            <a:off x="1207008" y="4050792"/>
            <a:ext cx="2752344" cy="905256"/>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Aptos" pitchFamily="34" charset="0"/>
                <a:ea typeface="Aptos" pitchFamily="34" charset="-122"/>
                <a:cs typeface="Aptos" pitchFamily="34" charset="-120"/>
              </a:rPr>
              <a:t>Summarize the previous point in one short sentence.</a:t>
            </a:r>
            <a:endParaRPr lang="en-US" sz="1150" dirty="0"/>
          </a:p>
        </p:txBody>
      </p:sp>
      <p:sp>
        <p:nvSpPr>
          <p:cNvPr id="16" name="Shape 14"/>
          <p:cNvSpPr/>
          <p:nvPr/>
        </p:nvSpPr>
        <p:spPr>
          <a:xfrm>
            <a:off x="5760720" y="2770632"/>
            <a:ext cx="585216" cy="585216"/>
          </a:xfrm>
          <a:prstGeom prst="ellipse">
            <a:avLst/>
          </a:prstGeom>
          <a:solidFill>
            <a:srgbClr val="FFFFFF"/>
          </a:solidFill>
          <a:ln w="12700">
            <a:solidFill>
              <a:srgbClr val="F97316"/>
            </a:solidFill>
            <a:prstDash val="solid"/>
          </a:ln>
        </p:spPr>
      </p:sp>
      <p:sp>
        <p:nvSpPr>
          <p:cNvPr id="17" name="Text 15"/>
          <p:cNvSpPr/>
          <p:nvPr/>
        </p:nvSpPr>
        <p:spPr>
          <a:xfrm>
            <a:off x="5760720" y="2907792"/>
            <a:ext cx="585216" cy="182880"/>
          </a:xfrm>
          <a:prstGeom prst="rect">
            <a:avLst/>
          </a:prstGeom>
          <a:noFill/>
          <a:ln/>
        </p:spPr>
        <p:txBody>
          <a:bodyPr wrap="square" lIns="0" tIns="0" rIns="0" bIns="0" rtlCol="0" anchor="ctr"/>
          <a:lstStyle/>
          <a:p>
            <a:pPr algn="ctr" indent="0" marL="0">
              <a:buNone/>
            </a:pPr>
            <a:r>
              <a:rPr lang="en-US" sz="1400" b="1" dirty="0">
                <a:solidFill>
                  <a:srgbClr val="F97316"/>
                </a:solidFill>
                <a:latin typeface="Aptos Display" pitchFamily="34" charset="0"/>
                <a:ea typeface="Aptos Display" pitchFamily="34" charset="-122"/>
                <a:cs typeface="Aptos Display" pitchFamily="34" charset="-120"/>
              </a:rPr>
              <a:t>2</a:t>
            </a:r>
            <a:endParaRPr lang="en-US" sz="1400" dirty="0"/>
          </a:p>
        </p:txBody>
      </p:sp>
      <p:sp>
        <p:nvSpPr>
          <p:cNvPr id="18" name="Text 16"/>
          <p:cNvSpPr/>
          <p:nvPr/>
        </p:nvSpPr>
        <p:spPr>
          <a:xfrm>
            <a:off x="4709160" y="2057400"/>
            <a:ext cx="3063240" cy="182880"/>
          </a:xfrm>
          <a:prstGeom prst="rect">
            <a:avLst/>
          </a:prstGeom>
          <a:noFill/>
          <a:ln/>
        </p:spPr>
        <p:txBody>
          <a:bodyPr wrap="square" lIns="0" tIns="0" rIns="0" bIns="0" rtlCol="0" anchor="ctr"/>
          <a:lstStyle/>
          <a:p>
            <a:pPr algn="ctr" indent="0" marL="0">
              <a:buNone/>
            </a:pPr>
            <a:r>
              <a:rPr lang="en-US" sz="900" b="1" dirty="0">
                <a:solidFill>
                  <a:srgbClr val="F97316"/>
                </a:solidFill>
                <a:latin typeface="Aptos" pitchFamily="34" charset="0"/>
                <a:ea typeface="Aptos" pitchFamily="34" charset="-122"/>
                <a:cs typeface="Aptos" pitchFamily="34" charset="-120"/>
              </a:rPr>
              <a:t>PIVOT</a:t>
            </a:r>
            <a:endParaRPr lang="en-US" sz="900" dirty="0"/>
          </a:p>
        </p:txBody>
      </p:sp>
      <p:sp>
        <p:nvSpPr>
          <p:cNvPr id="19" name="Shape 17"/>
          <p:cNvSpPr/>
          <p:nvPr/>
        </p:nvSpPr>
        <p:spPr>
          <a:xfrm>
            <a:off x="4709160" y="3520440"/>
            <a:ext cx="3063240" cy="1600200"/>
          </a:xfrm>
          <a:prstGeom prst="roundRect">
            <a:avLst>
              <a:gd name="adj" fmla="val 4571"/>
            </a:avLst>
          </a:prstGeom>
          <a:solidFill>
            <a:srgbClr val="FFFDF8"/>
          </a:solidFill>
          <a:ln w="12700">
            <a:solidFill>
              <a:srgbClr val="E7E1D6"/>
            </a:solidFill>
            <a:prstDash val="solid"/>
          </a:ln>
        </p:spPr>
      </p:sp>
      <p:sp>
        <p:nvSpPr>
          <p:cNvPr id="20" name="Shape 18"/>
          <p:cNvSpPr/>
          <p:nvPr/>
        </p:nvSpPr>
        <p:spPr>
          <a:xfrm>
            <a:off x="4709160" y="3520440"/>
            <a:ext cx="118872" cy="1600200"/>
          </a:xfrm>
          <a:prstGeom prst="rect">
            <a:avLst/>
          </a:prstGeom>
          <a:solidFill>
            <a:srgbClr val="F97316"/>
          </a:solidFill>
          <a:ln w="12700">
            <a:solidFill>
              <a:srgbClr val="F97316">
                <a:alpha val="0"/>
              </a:srgbClr>
            </a:solidFill>
            <a:prstDash val="solid"/>
          </a:ln>
        </p:spPr>
      </p:sp>
      <p:sp>
        <p:nvSpPr>
          <p:cNvPr id="21" name="Text 19"/>
          <p:cNvSpPr/>
          <p:nvPr/>
        </p:nvSpPr>
        <p:spPr>
          <a:xfrm>
            <a:off x="4910328" y="3685032"/>
            <a:ext cx="2752344" cy="292608"/>
          </a:xfrm>
          <a:prstGeom prst="rect">
            <a:avLst/>
          </a:prstGeom>
          <a:noFill/>
          <a:ln/>
        </p:spPr>
        <p:txBody>
          <a:bodyPr wrap="square" lIns="0" tIns="0" rIns="0" bIns="0" rtlCol="0" anchor="ctr">
            <a:normAutofit/>
          </a:bodyPr>
          <a:lstStyle/>
          <a:p>
            <a:pPr indent="0" marL="0">
              <a:buNone/>
            </a:pPr>
            <a:r>
              <a:rPr lang="en-US" sz="1800" b="1" dirty="0">
                <a:solidFill>
                  <a:srgbClr val="1F2937"/>
                </a:solidFill>
                <a:latin typeface="Aptos Display" pitchFamily="34" charset="0"/>
                <a:ea typeface="Aptos Display" pitchFamily="34" charset="-122"/>
                <a:cs typeface="Aptos Display" pitchFamily="34" charset="-120"/>
              </a:rPr>
              <a:t>Now the tension</a:t>
            </a:r>
            <a:endParaRPr lang="en-US" sz="1800" dirty="0"/>
          </a:p>
        </p:txBody>
      </p:sp>
      <p:sp>
        <p:nvSpPr>
          <p:cNvPr id="22" name="Text 20"/>
          <p:cNvSpPr/>
          <p:nvPr/>
        </p:nvSpPr>
        <p:spPr>
          <a:xfrm>
            <a:off x="4910328" y="4050792"/>
            <a:ext cx="2752344" cy="905256"/>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Aptos" pitchFamily="34" charset="0"/>
                <a:ea typeface="Aptos" pitchFamily="34" charset="-122"/>
                <a:cs typeface="Aptos" pitchFamily="34" charset="-120"/>
              </a:rPr>
              <a:t>Say why the previous slide is not enough and what question comes next.</a:t>
            </a:r>
            <a:endParaRPr lang="en-US" sz="1150" dirty="0"/>
          </a:p>
        </p:txBody>
      </p:sp>
      <p:sp>
        <p:nvSpPr>
          <p:cNvPr id="23" name="Shape 21"/>
          <p:cNvSpPr/>
          <p:nvPr/>
        </p:nvSpPr>
        <p:spPr>
          <a:xfrm>
            <a:off x="9464040" y="2770632"/>
            <a:ext cx="585216" cy="585216"/>
          </a:xfrm>
          <a:prstGeom prst="ellipse">
            <a:avLst/>
          </a:prstGeom>
          <a:solidFill>
            <a:srgbClr val="FFFFFF"/>
          </a:solidFill>
          <a:ln w="12700">
            <a:solidFill>
              <a:srgbClr val="F4B942"/>
            </a:solidFill>
            <a:prstDash val="solid"/>
          </a:ln>
        </p:spPr>
      </p:sp>
      <p:sp>
        <p:nvSpPr>
          <p:cNvPr id="24" name="Text 22"/>
          <p:cNvSpPr/>
          <p:nvPr/>
        </p:nvSpPr>
        <p:spPr>
          <a:xfrm>
            <a:off x="9464040" y="2907792"/>
            <a:ext cx="585216" cy="182880"/>
          </a:xfrm>
          <a:prstGeom prst="rect">
            <a:avLst/>
          </a:prstGeom>
          <a:noFill/>
          <a:ln/>
        </p:spPr>
        <p:txBody>
          <a:bodyPr wrap="square" lIns="0" tIns="0" rIns="0" bIns="0" rtlCol="0" anchor="ctr"/>
          <a:lstStyle/>
          <a:p>
            <a:pPr algn="ctr" indent="0" marL="0">
              <a:buNone/>
            </a:pPr>
            <a:r>
              <a:rPr lang="en-US" sz="1400" b="1" dirty="0">
                <a:solidFill>
                  <a:srgbClr val="F4B942"/>
                </a:solidFill>
                <a:latin typeface="Aptos Display" pitchFamily="34" charset="0"/>
                <a:ea typeface="Aptos Display" pitchFamily="34" charset="-122"/>
                <a:cs typeface="Aptos Display" pitchFamily="34" charset="-120"/>
              </a:rPr>
              <a:t>3</a:t>
            </a:r>
            <a:endParaRPr lang="en-US" sz="1400" dirty="0"/>
          </a:p>
        </p:txBody>
      </p:sp>
      <p:sp>
        <p:nvSpPr>
          <p:cNvPr id="25" name="Text 23"/>
          <p:cNvSpPr/>
          <p:nvPr/>
        </p:nvSpPr>
        <p:spPr>
          <a:xfrm>
            <a:off x="8412480" y="2057400"/>
            <a:ext cx="3063240" cy="182880"/>
          </a:xfrm>
          <a:prstGeom prst="rect">
            <a:avLst/>
          </a:prstGeom>
          <a:noFill/>
          <a:ln/>
        </p:spPr>
        <p:txBody>
          <a:bodyPr wrap="square" lIns="0" tIns="0" rIns="0" bIns="0" rtlCol="0" anchor="ctr"/>
          <a:lstStyle/>
          <a:p>
            <a:pPr algn="ctr" indent="0" marL="0">
              <a:buNone/>
            </a:pPr>
            <a:r>
              <a:rPr lang="en-US" sz="900" b="1" dirty="0">
                <a:solidFill>
                  <a:srgbClr val="F4B942"/>
                </a:solidFill>
                <a:latin typeface="Aptos" pitchFamily="34" charset="0"/>
                <a:ea typeface="Aptos" pitchFamily="34" charset="-122"/>
                <a:cs typeface="Aptos" pitchFamily="34" charset="-120"/>
              </a:rPr>
              <a:t>REVEAL</a:t>
            </a:r>
            <a:endParaRPr lang="en-US" sz="900" dirty="0"/>
          </a:p>
        </p:txBody>
      </p:sp>
      <p:sp>
        <p:nvSpPr>
          <p:cNvPr id="26" name="Shape 24"/>
          <p:cNvSpPr/>
          <p:nvPr/>
        </p:nvSpPr>
        <p:spPr>
          <a:xfrm>
            <a:off x="8412480" y="3520440"/>
            <a:ext cx="3063240" cy="1600200"/>
          </a:xfrm>
          <a:prstGeom prst="roundRect">
            <a:avLst>
              <a:gd name="adj" fmla="val 4571"/>
            </a:avLst>
          </a:prstGeom>
          <a:solidFill>
            <a:srgbClr val="FFFDF8"/>
          </a:solidFill>
          <a:ln w="12700">
            <a:solidFill>
              <a:srgbClr val="E7E1D6"/>
            </a:solidFill>
            <a:prstDash val="solid"/>
          </a:ln>
        </p:spPr>
      </p:sp>
      <p:sp>
        <p:nvSpPr>
          <p:cNvPr id="27" name="Shape 25"/>
          <p:cNvSpPr/>
          <p:nvPr/>
        </p:nvSpPr>
        <p:spPr>
          <a:xfrm>
            <a:off x="8412480" y="3520440"/>
            <a:ext cx="118872" cy="1600200"/>
          </a:xfrm>
          <a:prstGeom prst="rect">
            <a:avLst/>
          </a:prstGeom>
          <a:solidFill>
            <a:srgbClr val="F4B942"/>
          </a:solidFill>
          <a:ln w="12700">
            <a:solidFill>
              <a:srgbClr val="F4B942">
                <a:alpha val="0"/>
              </a:srgbClr>
            </a:solidFill>
            <a:prstDash val="solid"/>
          </a:ln>
        </p:spPr>
      </p:sp>
      <p:sp>
        <p:nvSpPr>
          <p:cNvPr id="28" name="Text 26"/>
          <p:cNvSpPr/>
          <p:nvPr/>
        </p:nvSpPr>
        <p:spPr>
          <a:xfrm>
            <a:off x="8613648" y="3685032"/>
            <a:ext cx="2752344" cy="292608"/>
          </a:xfrm>
          <a:prstGeom prst="rect">
            <a:avLst/>
          </a:prstGeom>
          <a:noFill/>
          <a:ln/>
        </p:spPr>
        <p:txBody>
          <a:bodyPr wrap="square" lIns="0" tIns="0" rIns="0" bIns="0" rtlCol="0" anchor="ctr">
            <a:normAutofit/>
          </a:bodyPr>
          <a:lstStyle/>
          <a:p>
            <a:pPr indent="0" marL="0">
              <a:buNone/>
            </a:pPr>
            <a:r>
              <a:rPr lang="en-US" sz="1800" b="1" dirty="0">
                <a:solidFill>
                  <a:srgbClr val="1F2937"/>
                </a:solidFill>
                <a:latin typeface="Aptos Display" pitchFamily="34" charset="0"/>
                <a:ea typeface="Aptos Display" pitchFamily="34" charset="-122"/>
                <a:cs typeface="Aptos Display" pitchFamily="34" charset="-120"/>
              </a:rPr>
              <a:t>Next the answer</a:t>
            </a:r>
            <a:endParaRPr lang="en-US" sz="1800" dirty="0"/>
          </a:p>
        </p:txBody>
      </p:sp>
      <p:sp>
        <p:nvSpPr>
          <p:cNvPr id="29" name="Text 27"/>
          <p:cNvSpPr/>
          <p:nvPr/>
        </p:nvSpPr>
        <p:spPr>
          <a:xfrm>
            <a:off x="8613648" y="4050792"/>
            <a:ext cx="2752344" cy="905256"/>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Aptos" pitchFamily="34" charset="0"/>
                <a:ea typeface="Aptos" pitchFamily="34" charset="-122"/>
                <a:cs typeface="Aptos" pitchFamily="34" charset="-120"/>
              </a:rPr>
              <a:t>Show the next result or explanation after the audience is ready.</a:t>
            </a:r>
            <a:endParaRPr lang="en-US" sz="1150" dirty="0"/>
          </a:p>
        </p:txBody>
      </p:sp>
      <p:sp>
        <p:nvSpPr>
          <p:cNvPr id="30" name="Shape 28"/>
          <p:cNvSpPr/>
          <p:nvPr/>
        </p:nvSpPr>
        <p:spPr>
          <a:xfrm>
            <a:off x="987552" y="5440680"/>
            <a:ext cx="10149840" cy="658368"/>
          </a:xfrm>
          <a:prstGeom prst="roundRect">
            <a:avLst>
              <a:gd name="adj" fmla="val 9722"/>
            </a:avLst>
          </a:prstGeom>
          <a:solidFill>
            <a:srgbClr val="FFF9F6"/>
          </a:solidFill>
          <a:ln w="12700">
            <a:solidFill>
              <a:srgbClr val="E7E1D6"/>
            </a:solidFill>
            <a:prstDash val="solid"/>
          </a:ln>
        </p:spPr>
      </p:sp>
      <p:sp>
        <p:nvSpPr>
          <p:cNvPr id="31" name="Shape 29"/>
          <p:cNvSpPr/>
          <p:nvPr/>
        </p:nvSpPr>
        <p:spPr>
          <a:xfrm>
            <a:off x="1152144" y="5605272"/>
            <a:ext cx="502920" cy="73152"/>
          </a:xfrm>
          <a:prstGeom prst="rect">
            <a:avLst/>
          </a:prstGeom>
          <a:solidFill>
            <a:srgbClr val="F97316"/>
          </a:solidFill>
          <a:ln w="12700">
            <a:solidFill>
              <a:srgbClr val="F97316">
                <a:alpha val="0"/>
              </a:srgbClr>
            </a:solidFill>
            <a:prstDash val="solid"/>
          </a:ln>
        </p:spPr>
      </p:sp>
      <p:sp>
        <p:nvSpPr>
          <p:cNvPr id="32" name="Text 30"/>
          <p:cNvSpPr/>
          <p:nvPr/>
        </p:nvSpPr>
        <p:spPr>
          <a:xfrm>
            <a:off x="1188720" y="5843016"/>
            <a:ext cx="9765792" cy="109728"/>
          </a:xfrm>
          <a:prstGeom prst="rect">
            <a:avLst/>
          </a:prstGeom>
          <a:noFill/>
          <a:ln/>
        </p:spPr>
        <p:txBody>
          <a:bodyPr wrap="square" lIns="0" tIns="0" rIns="0" bIns="0" rtlCol="0" anchor="ctr">
            <a:normAutofit/>
          </a:bodyPr>
          <a:lstStyle/>
          <a:p>
            <a:pPr indent="0" marL="0">
              <a:buNone/>
            </a:pPr>
            <a:r>
              <a:rPr lang="en-US" sz="1800" i="1" dirty="0">
                <a:solidFill>
                  <a:srgbClr val="1F2937"/>
                </a:solidFill>
                <a:latin typeface="Aptos Display" pitchFamily="34" charset="0"/>
                <a:ea typeface="Aptos Display" pitchFamily="34" charset="-122"/>
                <a:cs typeface="Aptos Display" pitchFamily="34" charset="-120"/>
              </a:rPr>
              <a:t>Pause for a beat after a key result. Silence can be a transition.</a:t>
            </a:r>
            <a:endParaRPr lang="en-US" sz="1800" dirty="0"/>
          </a:p>
        </p:txBody>
      </p:sp>
      <p:sp>
        <p:nvSpPr>
          <p:cNvPr id="33" name="Text 31"/>
          <p:cNvSpPr/>
          <p:nvPr/>
        </p:nvSpPr>
        <p:spPr>
          <a:xfrm>
            <a:off x="11475720" y="6446520"/>
            <a:ext cx="411480" cy="182880"/>
          </a:xfrm>
          <a:prstGeom prst="rect">
            <a:avLst/>
          </a:prstGeom>
          <a:noFill/>
          <a:ln/>
        </p:spPr>
        <p:txBody>
          <a:bodyPr wrap="square" lIns="0" tIns="0" rIns="0" bIns="0" rtlCol="0" anchor="ctr"/>
          <a:lstStyle/>
          <a:p>
            <a:pPr algn="r" indent="0" marL="0">
              <a:buNone/>
            </a:pPr>
            <a:r>
              <a:rPr lang="en-US" sz="900" dirty="0">
                <a:solidFill>
                  <a:srgbClr val="64748B"/>
                </a:solidFill>
                <a:latin typeface="Aptos" pitchFamily="34" charset="0"/>
                <a:ea typeface="Aptos" pitchFamily="34" charset="-122"/>
                <a:cs typeface="Aptos" pitchFamily="34" charset="-120"/>
              </a:rPr>
              <a:t>06</a:t>
            </a:r>
            <a:endParaRPr lang="en-US" sz="900" dirty="0"/>
          </a:p>
        </p:txBody>
      </p:sp>
      <p:sp>
        <p:nvSpPr>
          <p:cNvPr id="34" name="Text 32"/>
          <p:cNvSpPr/>
          <p:nvPr/>
        </p:nvSpPr>
        <p:spPr>
          <a:xfrm>
            <a:off x="594360" y="6455664"/>
            <a:ext cx="2560320" cy="146304"/>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Storytelling for academic talks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9326880" y="-914400"/>
            <a:ext cx="4114800" cy="4114800"/>
          </a:xfrm>
          <a:prstGeom prst="ellipse">
            <a:avLst/>
          </a:prstGeom>
          <a:solidFill>
            <a:srgbClr val="F97316">
              <a:alpha val="8000"/>
            </a:srgbClr>
          </a:solidFill>
          <a:ln w="12700">
            <a:solidFill>
              <a:srgbClr val="F97316">
                <a:alpha val="0"/>
              </a:srgbClr>
            </a:solidFill>
            <a:prstDash val="solid"/>
          </a:ln>
        </p:spPr>
      </p:sp>
      <p:sp>
        <p:nvSpPr>
          <p:cNvPr id="3" name="Shape 1"/>
          <p:cNvSpPr/>
          <p:nvPr/>
        </p:nvSpPr>
        <p:spPr>
          <a:xfrm>
            <a:off x="-914400" y="5120640"/>
            <a:ext cx="4023360" cy="4023360"/>
          </a:xfrm>
          <a:prstGeom prst="ellipse">
            <a:avLst/>
          </a:prstGeom>
          <a:solidFill>
            <a:srgbClr val="14B8A6">
              <a:alpha val="6000"/>
            </a:srgbClr>
          </a:solidFill>
          <a:ln w="12700">
            <a:solidFill>
              <a:srgbClr val="14B8A6">
                <a:alpha val="0"/>
              </a:srgbClr>
            </a:solidFill>
            <a:prstDash val="solid"/>
          </a:ln>
        </p:spPr>
      </p:sp>
      <p:sp>
        <p:nvSpPr>
          <p:cNvPr id="4" name="Shape 2"/>
          <p:cNvSpPr/>
          <p:nvPr/>
        </p:nvSpPr>
        <p:spPr>
          <a:xfrm>
            <a:off x="0" y="0"/>
            <a:ext cx="12191695" cy="73152"/>
          </a:xfrm>
          <a:prstGeom prst="rect">
            <a:avLst/>
          </a:prstGeom>
          <a:solidFill>
            <a:srgbClr val="F97316">
              <a:alpha val="80000"/>
            </a:srgbClr>
          </a:solidFill>
          <a:ln w="12700">
            <a:solidFill>
              <a:srgbClr val="F97316">
                <a:alpha val="0"/>
              </a:srgbClr>
            </a:solidFill>
            <a:prstDash val="solid"/>
          </a:ln>
        </p:spPr>
      </p:sp>
      <p:sp>
        <p:nvSpPr>
          <p:cNvPr id="5" name="Text 3"/>
          <p:cNvSpPr/>
          <p:nvPr/>
        </p:nvSpPr>
        <p:spPr>
          <a:xfrm>
            <a:off x="658368" y="420624"/>
            <a:ext cx="2560320" cy="182880"/>
          </a:xfrm>
          <a:prstGeom prst="rect">
            <a:avLst/>
          </a:prstGeom>
          <a:noFill/>
          <a:ln/>
        </p:spPr>
        <p:txBody>
          <a:bodyPr wrap="square" lIns="0" tIns="0" rIns="0" bIns="0" rtlCol="0" anchor="ctr"/>
          <a:lstStyle/>
          <a:p>
            <a:pPr indent="0" marL="0">
              <a:buNone/>
            </a:pPr>
            <a:r>
              <a:rPr lang="en-US" sz="1000" b="1" dirty="0">
                <a:solidFill>
                  <a:srgbClr val="F97316"/>
                </a:solidFill>
                <a:latin typeface="Aptos" pitchFamily="34" charset="0"/>
                <a:ea typeface="Aptos" pitchFamily="34" charset="-122"/>
                <a:cs typeface="Aptos" pitchFamily="34" charset="-120"/>
              </a:rPr>
              <a:t>MAKE IT CONCRETE</a:t>
            </a:r>
            <a:endParaRPr lang="en-US" sz="1000" dirty="0"/>
          </a:p>
        </p:txBody>
      </p:sp>
      <p:sp>
        <p:nvSpPr>
          <p:cNvPr id="6" name="Text 4"/>
          <p:cNvSpPr/>
          <p:nvPr/>
        </p:nvSpPr>
        <p:spPr>
          <a:xfrm>
            <a:off x="621792" y="694944"/>
            <a:ext cx="7863840" cy="713232"/>
          </a:xfrm>
          <a:prstGeom prst="rect">
            <a:avLst/>
          </a:prstGeom>
          <a:noFill/>
          <a:ln/>
        </p:spPr>
        <p:txBody>
          <a:bodyPr wrap="square" lIns="0" tIns="0" rIns="0" bIns="0" rtlCol="0" anchor="ctr">
            <a:normAutofit/>
          </a:bodyPr>
          <a:lstStyle/>
          <a:p>
            <a:pPr indent="0" marL="0">
              <a:buNone/>
            </a:pPr>
            <a:r>
              <a:rPr lang="en-US" sz="2400" b="1" dirty="0">
                <a:solidFill>
                  <a:srgbClr val="1F2937"/>
                </a:solidFill>
                <a:latin typeface="Aptos Display" pitchFamily="34" charset="0"/>
                <a:ea typeface="Aptos Display" pitchFamily="34" charset="-122"/>
                <a:cs typeface="Aptos Display" pitchFamily="34" charset="-120"/>
              </a:rPr>
              <a:t>Make the abstract concrete and the stakes human</a:t>
            </a:r>
            <a:endParaRPr lang="en-US" sz="2400" dirty="0"/>
          </a:p>
        </p:txBody>
      </p:sp>
      <p:sp>
        <p:nvSpPr>
          <p:cNvPr id="7" name="Text 5"/>
          <p:cNvSpPr/>
          <p:nvPr/>
        </p:nvSpPr>
        <p:spPr>
          <a:xfrm>
            <a:off x="658368" y="1417320"/>
            <a:ext cx="8138160" cy="347472"/>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A good analogy builds understanding. A good story makes the outcome matter.</a:t>
            </a:r>
            <a:endParaRPr lang="en-US" sz="1300" dirty="0"/>
          </a:p>
        </p:txBody>
      </p:sp>
      <p:sp>
        <p:nvSpPr>
          <p:cNvPr id="8" name="Shape 6"/>
          <p:cNvSpPr/>
          <p:nvPr/>
        </p:nvSpPr>
        <p:spPr>
          <a:xfrm>
            <a:off x="749808" y="1828800"/>
            <a:ext cx="4956048" cy="3584448"/>
          </a:xfrm>
          <a:prstGeom prst="roundRect">
            <a:avLst>
              <a:gd name="adj" fmla="val 2041"/>
            </a:avLst>
          </a:prstGeom>
          <a:solidFill>
            <a:srgbClr val="FFF9F7"/>
          </a:solidFill>
          <a:ln w="12700">
            <a:solidFill>
              <a:srgbClr val="E7E1D6"/>
            </a:solidFill>
            <a:prstDash val="solid"/>
          </a:ln>
        </p:spPr>
      </p:sp>
      <p:sp>
        <p:nvSpPr>
          <p:cNvPr id="9" name="Shape 7"/>
          <p:cNvSpPr/>
          <p:nvPr/>
        </p:nvSpPr>
        <p:spPr>
          <a:xfrm>
            <a:off x="749808" y="1828800"/>
            <a:ext cx="118872" cy="3584448"/>
          </a:xfrm>
          <a:prstGeom prst="rect">
            <a:avLst/>
          </a:prstGeom>
          <a:solidFill>
            <a:srgbClr val="14B8A6"/>
          </a:solidFill>
          <a:ln w="12700">
            <a:solidFill>
              <a:srgbClr val="14B8A6">
                <a:alpha val="0"/>
              </a:srgbClr>
            </a:solidFill>
            <a:prstDash val="solid"/>
          </a:ln>
        </p:spPr>
      </p:sp>
      <p:sp>
        <p:nvSpPr>
          <p:cNvPr id="10" name="Text 8"/>
          <p:cNvSpPr/>
          <p:nvPr/>
        </p:nvSpPr>
        <p:spPr>
          <a:xfrm>
            <a:off x="950976" y="1993392"/>
            <a:ext cx="4645152" cy="292608"/>
          </a:xfrm>
          <a:prstGeom prst="rect">
            <a:avLst/>
          </a:prstGeom>
          <a:noFill/>
          <a:ln/>
        </p:spPr>
        <p:txBody>
          <a:bodyPr wrap="square" lIns="0" tIns="0" rIns="0" bIns="0" rtlCol="0" anchor="ctr">
            <a:normAutofit/>
          </a:bodyPr>
          <a:lstStyle/>
          <a:p>
            <a:pPr indent="0" marL="0">
              <a:buNone/>
            </a:pPr>
            <a:r>
              <a:rPr lang="en-US" sz="1800" b="1" dirty="0">
                <a:solidFill>
                  <a:srgbClr val="1F2937"/>
                </a:solidFill>
                <a:latin typeface="Aptos Display" pitchFamily="34" charset="0"/>
                <a:ea typeface="Aptos Display" pitchFamily="34" charset="-122"/>
                <a:cs typeface="Aptos Display" pitchFamily="34" charset="-120"/>
              </a:rPr>
              <a:t>Analogy</a:t>
            </a:r>
            <a:endParaRPr lang="en-US" sz="1800" dirty="0"/>
          </a:p>
        </p:txBody>
      </p:sp>
      <p:sp>
        <p:nvSpPr>
          <p:cNvPr id="11" name="Text 9"/>
          <p:cNvSpPr/>
          <p:nvPr/>
        </p:nvSpPr>
        <p:spPr>
          <a:xfrm>
            <a:off x="950976" y="2359152"/>
            <a:ext cx="4645152" cy="2889504"/>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Aptos" pitchFamily="34" charset="0"/>
                <a:ea typeface="Aptos" pitchFamily="34" charset="-122"/>
                <a:cs typeface="Aptos" pitchFamily="34" charset="-120"/>
              </a:rPr>
              <a:t>Start with something familiar.</a:t>
            </a:r>
            <a:endParaRPr lang="en-US" sz="1150" dirty="0"/>
          </a:p>
          <a:p>
            <a:pPr indent="0" marL="0">
              <a:buNone/>
            </a:pPr>
            <a:r>
              <a:rPr lang="en-US" sz="1150" dirty="0">
                <a:solidFill>
                  <a:srgbClr val="64748B"/>
                </a:solidFill>
                <a:latin typeface="Aptos" pitchFamily="34" charset="0"/>
                <a:ea typeface="Aptos" pitchFamily="34" charset="-122"/>
                <a:cs typeface="Aptos" pitchFamily="34" charset="-120"/>
              </a:rPr>
              <a:t>Map the parts carefully.</a:t>
            </a:r>
            <a:endParaRPr lang="en-US" sz="1150" dirty="0"/>
          </a:p>
          <a:p>
            <a:pPr indent="0" marL="0">
              <a:buNone/>
            </a:pPr>
            <a:r>
              <a:rPr lang="en-US" sz="1150" dirty="0">
                <a:solidFill>
                  <a:srgbClr val="64748B"/>
                </a:solidFill>
                <a:latin typeface="Aptos" pitchFamily="34" charset="0"/>
                <a:ea typeface="Aptos" pitchFamily="34" charset="-122"/>
                <a:cs typeface="Aptos" pitchFamily="34" charset="-120"/>
              </a:rPr>
              <a:t>Say where the comparison breaks.</a:t>
            </a:r>
            <a:endParaRPr lang="en-US" sz="1150" dirty="0"/>
          </a:p>
        </p:txBody>
      </p:sp>
      <p:sp>
        <p:nvSpPr>
          <p:cNvPr id="12" name="Shape 10"/>
          <p:cNvSpPr/>
          <p:nvPr/>
        </p:nvSpPr>
        <p:spPr>
          <a:xfrm>
            <a:off x="1060704" y="2807208"/>
            <a:ext cx="3566160" cy="0"/>
          </a:xfrm>
          <a:prstGeom prst="line">
            <a:avLst/>
          </a:prstGeom>
          <a:noFill/>
          <a:ln w="12700">
            <a:solidFill>
              <a:srgbClr val="14B8A6"/>
            </a:solidFill>
            <a:prstDash val="solid"/>
          </a:ln>
        </p:spPr>
      </p:sp>
      <p:sp>
        <p:nvSpPr>
          <p:cNvPr id="13" name="Shape 11"/>
          <p:cNvSpPr/>
          <p:nvPr/>
        </p:nvSpPr>
        <p:spPr>
          <a:xfrm>
            <a:off x="1097280" y="3154680"/>
            <a:ext cx="896112" cy="329184"/>
          </a:xfrm>
          <a:prstGeom prst="roundRect">
            <a:avLst>
              <a:gd name="adj" fmla="val 19444"/>
            </a:avLst>
          </a:prstGeom>
          <a:solidFill>
            <a:srgbClr val="14B8A6"/>
          </a:solidFill>
          <a:ln w="12700">
            <a:solidFill>
              <a:srgbClr val="14B8A6">
                <a:alpha val="0"/>
              </a:srgbClr>
            </a:solidFill>
            <a:prstDash val="solid"/>
          </a:ln>
        </p:spPr>
      </p:sp>
      <p:sp>
        <p:nvSpPr>
          <p:cNvPr id="14" name="Text 12"/>
          <p:cNvSpPr/>
          <p:nvPr/>
        </p:nvSpPr>
        <p:spPr>
          <a:xfrm>
            <a:off x="1097280" y="3182112"/>
            <a:ext cx="896112"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Familiar</a:t>
            </a:r>
            <a:endParaRPr lang="en-US" sz="1000" dirty="0"/>
          </a:p>
        </p:txBody>
      </p:sp>
      <p:sp>
        <p:nvSpPr>
          <p:cNvPr id="15" name="Shape 13"/>
          <p:cNvSpPr/>
          <p:nvPr/>
        </p:nvSpPr>
        <p:spPr>
          <a:xfrm>
            <a:off x="2176272" y="3154680"/>
            <a:ext cx="384048" cy="329184"/>
          </a:xfrm>
          <a:prstGeom prst="roundRect">
            <a:avLst>
              <a:gd name="adj" fmla="val 19444"/>
            </a:avLst>
          </a:prstGeom>
          <a:solidFill>
            <a:srgbClr val="FCFAF5"/>
          </a:solidFill>
          <a:ln w="12700">
            <a:solidFill>
              <a:srgbClr val="FCFAF5">
                <a:alpha val="0"/>
              </a:srgbClr>
            </a:solidFill>
            <a:prstDash val="solid"/>
          </a:ln>
        </p:spPr>
      </p:sp>
      <p:sp>
        <p:nvSpPr>
          <p:cNvPr id="16" name="Text 14"/>
          <p:cNvSpPr/>
          <p:nvPr/>
        </p:nvSpPr>
        <p:spPr>
          <a:xfrm>
            <a:off x="2176272" y="3182112"/>
            <a:ext cx="384048" cy="201168"/>
          </a:xfrm>
          <a:prstGeom prst="rect">
            <a:avLst/>
          </a:prstGeom>
          <a:noFill/>
          <a:ln/>
        </p:spPr>
        <p:txBody>
          <a:bodyPr wrap="square" lIns="0" tIns="0" rIns="0" bIns="0" rtlCol="0" anchor="ctr"/>
          <a:lstStyle/>
          <a:p>
            <a:pPr algn="ctr" indent="0" marL="0">
              <a:buNone/>
            </a:pPr>
            <a:r>
              <a:rPr lang="en-US" sz="1000" b="1" dirty="0">
                <a:solidFill>
                  <a:srgbClr val="1F2937"/>
                </a:solidFill>
                <a:latin typeface="Aptos" pitchFamily="34" charset="0"/>
                <a:ea typeface="Aptos" pitchFamily="34" charset="-122"/>
                <a:cs typeface="Aptos" pitchFamily="34" charset="-120"/>
              </a:rPr>
              <a:t>→</a:t>
            </a:r>
            <a:endParaRPr lang="en-US" sz="1000" dirty="0"/>
          </a:p>
        </p:txBody>
      </p:sp>
      <p:sp>
        <p:nvSpPr>
          <p:cNvPr id="17" name="Shape 15"/>
          <p:cNvSpPr/>
          <p:nvPr/>
        </p:nvSpPr>
        <p:spPr>
          <a:xfrm>
            <a:off x="2651760" y="3154680"/>
            <a:ext cx="841248" cy="329184"/>
          </a:xfrm>
          <a:prstGeom prst="roundRect">
            <a:avLst>
              <a:gd name="adj" fmla="val 19444"/>
            </a:avLst>
          </a:prstGeom>
          <a:solidFill>
            <a:srgbClr val="F97316"/>
          </a:solidFill>
          <a:ln w="12700">
            <a:solidFill>
              <a:srgbClr val="F97316">
                <a:alpha val="0"/>
              </a:srgbClr>
            </a:solidFill>
            <a:prstDash val="solid"/>
          </a:ln>
        </p:spPr>
      </p:sp>
      <p:sp>
        <p:nvSpPr>
          <p:cNvPr id="18" name="Text 16"/>
          <p:cNvSpPr/>
          <p:nvPr/>
        </p:nvSpPr>
        <p:spPr>
          <a:xfrm>
            <a:off x="2651760" y="3182112"/>
            <a:ext cx="84124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New idea</a:t>
            </a:r>
            <a:endParaRPr lang="en-US" sz="1000" dirty="0"/>
          </a:p>
        </p:txBody>
      </p:sp>
      <p:sp>
        <p:nvSpPr>
          <p:cNvPr id="19" name="Shape 17"/>
          <p:cNvSpPr/>
          <p:nvPr/>
        </p:nvSpPr>
        <p:spPr>
          <a:xfrm>
            <a:off x="3675888" y="3154680"/>
            <a:ext cx="384048" cy="329184"/>
          </a:xfrm>
          <a:prstGeom prst="roundRect">
            <a:avLst>
              <a:gd name="adj" fmla="val 19444"/>
            </a:avLst>
          </a:prstGeom>
          <a:solidFill>
            <a:srgbClr val="FCFAF5"/>
          </a:solidFill>
          <a:ln w="12700">
            <a:solidFill>
              <a:srgbClr val="FCFAF5">
                <a:alpha val="0"/>
              </a:srgbClr>
            </a:solidFill>
            <a:prstDash val="solid"/>
          </a:ln>
        </p:spPr>
      </p:sp>
      <p:sp>
        <p:nvSpPr>
          <p:cNvPr id="20" name="Text 18"/>
          <p:cNvSpPr/>
          <p:nvPr/>
        </p:nvSpPr>
        <p:spPr>
          <a:xfrm>
            <a:off x="3675888" y="3182112"/>
            <a:ext cx="384048" cy="201168"/>
          </a:xfrm>
          <a:prstGeom prst="rect">
            <a:avLst/>
          </a:prstGeom>
          <a:noFill/>
          <a:ln/>
        </p:spPr>
        <p:txBody>
          <a:bodyPr wrap="square" lIns="0" tIns="0" rIns="0" bIns="0" rtlCol="0" anchor="ctr"/>
          <a:lstStyle/>
          <a:p>
            <a:pPr algn="ctr" indent="0" marL="0">
              <a:buNone/>
            </a:pPr>
            <a:r>
              <a:rPr lang="en-US" sz="1000" b="1" dirty="0">
                <a:solidFill>
                  <a:srgbClr val="1F2937"/>
                </a:solidFill>
                <a:latin typeface="Aptos" pitchFamily="34" charset="0"/>
                <a:ea typeface="Aptos" pitchFamily="34" charset="-122"/>
                <a:cs typeface="Aptos" pitchFamily="34" charset="-120"/>
              </a:rPr>
              <a:t>→</a:t>
            </a:r>
            <a:endParaRPr lang="en-US" sz="1000" dirty="0"/>
          </a:p>
        </p:txBody>
      </p:sp>
      <p:sp>
        <p:nvSpPr>
          <p:cNvPr id="21" name="Shape 19"/>
          <p:cNvSpPr/>
          <p:nvPr/>
        </p:nvSpPr>
        <p:spPr>
          <a:xfrm>
            <a:off x="4169664" y="3154680"/>
            <a:ext cx="1078992" cy="329184"/>
          </a:xfrm>
          <a:prstGeom prst="roundRect">
            <a:avLst>
              <a:gd name="adj" fmla="val 19444"/>
            </a:avLst>
          </a:prstGeom>
          <a:solidFill>
            <a:srgbClr val="F4B942"/>
          </a:solidFill>
          <a:ln w="12700">
            <a:solidFill>
              <a:srgbClr val="F4B942">
                <a:alpha val="0"/>
              </a:srgbClr>
            </a:solidFill>
            <a:prstDash val="solid"/>
          </a:ln>
        </p:spPr>
      </p:sp>
      <p:sp>
        <p:nvSpPr>
          <p:cNvPr id="22" name="Text 20"/>
          <p:cNvSpPr/>
          <p:nvPr/>
        </p:nvSpPr>
        <p:spPr>
          <a:xfrm>
            <a:off x="4169664" y="3182112"/>
            <a:ext cx="1078992" cy="201168"/>
          </a:xfrm>
          <a:prstGeom prst="rect">
            <a:avLst/>
          </a:prstGeom>
          <a:noFill/>
          <a:ln/>
        </p:spPr>
        <p:txBody>
          <a:bodyPr wrap="square" lIns="0" tIns="0" rIns="0" bIns="0" rtlCol="0" anchor="ctr"/>
          <a:lstStyle/>
          <a:p>
            <a:pPr algn="ctr" indent="0" marL="0">
              <a:buNone/>
            </a:pPr>
            <a:r>
              <a:rPr lang="en-US" sz="1000" b="1" dirty="0">
                <a:solidFill>
                  <a:srgbClr val="0B1220"/>
                </a:solidFill>
                <a:latin typeface="Aptos" pitchFamily="34" charset="0"/>
                <a:ea typeface="Aptos" pitchFamily="34" charset="-122"/>
                <a:cs typeface="Aptos" pitchFamily="34" charset="-120"/>
              </a:rPr>
              <a:t>Clear meaning</a:t>
            </a:r>
            <a:endParaRPr lang="en-US" sz="1000" dirty="0"/>
          </a:p>
        </p:txBody>
      </p:sp>
      <p:sp>
        <p:nvSpPr>
          <p:cNvPr id="23" name="Shape 21"/>
          <p:cNvSpPr/>
          <p:nvPr/>
        </p:nvSpPr>
        <p:spPr>
          <a:xfrm>
            <a:off x="6364224" y="1828800"/>
            <a:ext cx="4956048" cy="3584448"/>
          </a:xfrm>
          <a:prstGeom prst="roundRect">
            <a:avLst>
              <a:gd name="adj" fmla="val 2041"/>
            </a:avLst>
          </a:prstGeom>
          <a:solidFill>
            <a:srgbClr val="F4FBF8"/>
          </a:solidFill>
          <a:ln w="12700">
            <a:solidFill>
              <a:srgbClr val="E7E1D6"/>
            </a:solidFill>
            <a:prstDash val="solid"/>
          </a:ln>
        </p:spPr>
      </p:sp>
      <p:sp>
        <p:nvSpPr>
          <p:cNvPr id="24" name="Shape 22"/>
          <p:cNvSpPr/>
          <p:nvPr/>
        </p:nvSpPr>
        <p:spPr>
          <a:xfrm>
            <a:off x="6364224" y="1828800"/>
            <a:ext cx="118872" cy="3584448"/>
          </a:xfrm>
          <a:prstGeom prst="rect">
            <a:avLst/>
          </a:prstGeom>
          <a:solidFill>
            <a:srgbClr val="F97316"/>
          </a:solidFill>
          <a:ln w="12700">
            <a:solidFill>
              <a:srgbClr val="F97316">
                <a:alpha val="0"/>
              </a:srgbClr>
            </a:solidFill>
            <a:prstDash val="solid"/>
          </a:ln>
        </p:spPr>
      </p:sp>
      <p:sp>
        <p:nvSpPr>
          <p:cNvPr id="25" name="Text 23"/>
          <p:cNvSpPr/>
          <p:nvPr/>
        </p:nvSpPr>
        <p:spPr>
          <a:xfrm>
            <a:off x="6565392" y="1993392"/>
            <a:ext cx="4645152" cy="292608"/>
          </a:xfrm>
          <a:prstGeom prst="rect">
            <a:avLst/>
          </a:prstGeom>
          <a:noFill/>
          <a:ln/>
        </p:spPr>
        <p:txBody>
          <a:bodyPr wrap="square" lIns="0" tIns="0" rIns="0" bIns="0" rtlCol="0" anchor="ctr">
            <a:normAutofit/>
          </a:bodyPr>
          <a:lstStyle/>
          <a:p>
            <a:pPr indent="0" marL="0">
              <a:buNone/>
            </a:pPr>
            <a:r>
              <a:rPr lang="en-US" sz="1800" b="1" dirty="0">
                <a:solidFill>
                  <a:srgbClr val="1F2937"/>
                </a:solidFill>
                <a:latin typeface="Aptos Display" pitchFamily="34" charset="0"/>
                <a:ea typeface="Aptos Display" pitchFamily="34" charset="-122"/>
                <a:cs typeface="Aptos Display" pitchFamily="34" charset="-120"/>
              </a:rPr>
              <a:t>Why it matters</a:t>
            </a:r>
            <a:endParaRPr lang="en-US" sz="1800" dirty="0"/>
          </a:p>
        </p:txBody>
      </p:sp>
      <p:sp>
        <p:nvSpPr>
          <p:cNvPr id="26" name="Text 24"/>
          <p:cNvSpPr/>
          <p:nvPr/>
        </p:nvSpPr>
        <p:spPr>
          <a:xfrm>
            <a:off x="6565392" y="2359152"/>
            <a:ext cx="4645152" cy="2889504"/>
          </a:xfrm>
          <a:prstGeom prst="rect">
            <a:avLst/>
          </a:prstGeom>
          <a:noFill/>
          <a:ln/>
        </p:spPr>
        <p:txBody>
          <a:bodyPr wrap="square" lIns="0" tIns="0" rIns="0" bIns="0" rtlCol="0" anchor="ctr">
            <a:normAutofit/>
          </a:bodyPr>
          <a:lstStyle/>
          <a:p>
            <a:pPr indent="0" marL="0">
              <a:buNone/>
            </a:pPr>
            <a:r>
              <a:rPr lang="en-US" sz="1150" dirty="0">
                <a:solidFill>
                  <a:srgbClr val="64748B"/>
                </a:solidFill>
                <a:latin typeface="Aptos" pitchFamily="34" charset="0"/>
                <a:ea typeface="Aptos" pitchFamily="34" charset="-122"/>
                <a:cs typeface="Aptos" pitchFamily="34" charset="-120"/>
              </a:rPr>
              <a:t>Link the result to a real decision, a real audience, or a real consequence.</a:t>
            </a:r>
            <a:endParaRPr lang="en-US" sz="1150" dirty="0"/>
          </a:p>
          <a:p>
            <a:pPr indent="0" marL="0">
              <a:buNone/>
            </a:pPr>
            <a:r>
              <a:rPr lang="en-US" sz="1150" dirty="0">
                <a:solidFill>
                  <a:srgbClr val="64748B"/>
                </a:solidFill>
                <a:latin typeface="Aptos" pitchFamily="34" charset="0"/>
                <a:ea typeface="Aptos" pitchFamily="34" charset="-122"/>
                <a:cs typeface="Aptos" pitchFamily="34" charset="-120"/>
              </a:rPr>
              <a:t>That is where memory and persuasion happen.</a:t>
            </a:r>
            <a:endParaRPr lang="en-US" sz="1150" dirty="0"/>
          </a:p>
        </p:txBody>
      </p:sp>
      <p:sp>
        <p:nvSpPr>
          <p:cNvPr id="27" name="Text 25"/>
          <p:cNvSpPr/>
          <p:nvPr/>
        </p:nvSpPr>
        <p:spPr>
          <a:xfrm>
            <a:off x="6565392" y="4443984"/>
            <a:ext cx="4526280" cy="457200"/>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Aptos Display" pitchFamily="34" charset="0"/>
                <a:ea typeface="Aptos Display" pitchFamily="34" charset="-122"/>
                <a:cs typeface="Aptos Display" pitchFamily="34" charset="-120"/>
              </a:rPr>
              <a:t>If the audience feels the significance, they will remember the science.</a:t>
            </a:r>
            <a:endParaRPr lang="en-US" sz="1500" dirty="0"/>
          </a:p>
        </p:txBody>
      </p:sp>
      <p:sp>
        <p:nvSpPr>
          <p:cNvPr id="28" name="Shape 26"/>
          <p:cNvSpPr/>
          <p:nvPr/>
        </p:nvSpPr>
        <p:spPr>
          <a:xfrm>
            <a:off x="987552" y="5687568"/>
            <a:ext cx="10058400" cy="502920"/>
          </a:xfrm>
          <a:prstGeom prst="roundRect">
            <a:avLst>
              <a:gd name="adj" fmla="val 12727"/>
            </a:avLst>
          </a:prstGeom>
          <a:solidFill>
            <a:srgbClr val="FFF8F8"/>
          </a:solidFill>
          <a:ln w="12700">
            <a:solidFill>
              <a:srgbClr val="E7E1D6"/>
            </a:solidFill>
            <a:prstDash val="solid"/>
          </a:ln>
        </p:spPr>
      </p:sp>
      <p:sp>
        <p:nvSpPr>
          <p:cNvPr id="29" name="Shape 27"/>
          <p:cNvSpPr/>
          <p:nvPr/>
        </p:nvSpPr>
        <p:spPr>
          <a:xfrm>
            <a:off x="1152144" y="5852160"/>
            <a:ext cx="502920" cy="73152"/>
          </a:xfrm>
          <a:prstGeom prst="rect">
            <a:avLst/>
          </a:prstGeom>
          <a:solidFill>
            <a:srgbClr val="FB7185"/>
          </a:solidFill>
          <a:ln w="12700">
            <a:solidFill>
              <a:srgbClr val="FB7185">
                <a:alpha val="0"/>
              </a:srgbClr>
            </a:solidFill>
            <a:prstDash val="solid"/>
          </a:ln>
        </p:spPr>
      </p:sp>
      <p:sp>
        <p:nvSpPr>
          <p:cNvPr id="30" name="Text 28"/>
          <p:cNvSpPr/>
          <p:nvPr/>
        </p:nvSpPr>
        <p:spPr>
          <a:xfrm>
            <a:off x="1188720" y="6089904"/>
            <a:ext cx="9674352" cy="-45720"/>
          </a:xfrm>
          <a:prstGeom prst="rect">
            <a:avLst/>
          </a:prstGeom>
          <a:noFill/>
          <a:ln/>
        </p:spPr>
        <p:txBody>
          <a:bodyPr wrap="square" lIns="0" tIns="0" rIns="0" bIns="0" rtlCol="0" anchor="ctr">
            <a:normAutofit/>
          </a:bodyPr>
          <a:lstStyle/>
          <a:p>
            <a:pPr indent="0" marL="0">
              <a:buNone/>
            </a:pPr>
            <a:r>
              <a:rPr lang="en-US" sz="1800" i="1" dirty="0">
                <a:solidFill>
                  <a:srgbClr val="1F2937"/>
                </a:solidFill>
                <a:latin typeface="Aptos Display" pitchFamily="34" charset="0"/>
                <a:ea typeface="Aptos Display" pitchFamily="34" charset="-122"/>
                <a:cs typeface="Aptos Display" pitchFamily="34" charset="-120"/>
              </a:rPr>
              <a:t>Always say where the analogy breaks.</a:t>
            </a:r>
            <a:endParaRPr lang="en-US" sz="1800" dirty="0"/>
          </a:p>
        </p:txBody>
      </p:sp>
      <p:sp>
        <p:nvSpPr>
          <p:cNvPr id="31" name="Text 29"/>
          <p:cNvSpPr/>
          <p:nvPr/>
        </p:nvSpPr>
        <p:spPr>
          <a:xfrm>
            <a:off x="11475720" y="6446520"/>
            <a:ext cx="411480" cy="182880"/>
          </a:xfrm>
          <a:prstGeom prst="rect">
            <a:avLst/>
          </a:prstGeom>
          <a:noFill/>
          <a:ln/>
        </p:spPr>
        <p:txBody>
          <a:bodyPr wrap="square" lIns="0" tIns="0" rIns="0" bIns="0" rtlCol="0" anchor="ctr"/>
          <a:lstStyle/>
          <a:p>
            <a:pPr algn="r" indent="0" marL="0">
              <a:buNone/>
            </a:pPr>
            <a:r>
              <a:rPr lang="en-US" sz="900" dirty="0">
                <a:solidFill>
                  <a:srgbClr val="64748B"/>
                </a:solidFill>
                <a:latin typeface="Aptos" pitchFamily="34" charset="0"/>
                <a:ea typeface="Aptos" pitchFamily="34" charset="-122"/>
                <a:cs typeface="Aptos" pitchFamily="34" charset="-120"/>
              </a:rPr>
              <a:t>07</a:t>
            </a:r>
            <a:endParaRPr lang="en-US" sz="900" dirty="0"/>
          </a:p>
        </p:txBody>
      </p:sp>
      <p:sp>
        <p:nvSpPr>
          <p:cNvPr id="32" name="Text 30"/>
          <p:cNvSpPr/>
          <p:nvPr/>
        </p:nvSpPr>
        <p:spPr>
          <a:xfrm>
            <a:off x="594360" y="6455664"/>
            <a:ext cx="2560320" cy="146304"/>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Storytelling for academic talks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732520" y="-822960"/>
            <a:ext cx="4754880" cy="4754880"/>
          </a:xfrm>
          <a:prstGeom prst="ellipse">
            <a:avLst/>
          </a:prstGeom>
          <a:solidFill>
            <a:srgbClr val="F97316">
              <a:alpha val="16000"/>
            </a:srgbClr>
          </a:solidFill>
          <a:ln w="12700">
            <a:solidFill>
              <a:srgbClr val="F97316">
                <a:alpha val="0"/>
              </a:srgbClr>
            </a:solidFill>
            <a:prstDash val="solid"/>
          </a:ln>
        </p:spPr>
      </p:sp>
      <p:sp>
        <p:nvSpPr>
          <p:cNvPr id="3" name="Shape 1"/>
          <p:cNvSpPr/>
          <p:nvPr/>
        </p:nvSpPr>
        <p:spPr>
          <a:xfrm>
            <a:off x="-1005840" y="4800600"/>
            <a:ext cx="4206240" cy="4206240"/>
          </a:xfrm>
          <a:prstGeom prst="ellipse">
            <a:avLst/>
          </a:prstGeom>
          <a:solidFill>
            <a:srgbClr val="14B8A6">
              <a:alpha val="12000"/>
            </a:srgbClr>
          </a:solidFill>
          <a:ln w="12700">
            <a:solidFill>
              <a:srgbClr val="14B8A6">
                <a:alpha val="0"/>
              </a:srgbClr>
            </a:solidFill>
            <a:prstDash val="solid"/>
          </a:ln>
        </p:spPr>
      </p:sp>
      <p:sp>
        <p:nvSpPr>
          <p:cNvPr id="4" name="Shape 2"/>
          <p:cNvSpPr/>
          <p:nvPr/>
        </p:nvSpPr>
        <p:spPr>
          <a:xfrm>
            <a:off x="0" y="0"/>
            <a:ext cx="12191695" cy="128016"/>
          </a:xfrm>
          <a:prstGeom prst="rect">
            <a:avLst/>
          </a:prstGeom>
          <a:solidFill>
            <a:srgbClr val="F97316">
              <a:alpha val="30000"/>
            </a:srgbClr>
          </a:solidFill>
          <a:ln w="12700">
            <a:solidFill>
              <a:srgbClr val="F97316">
                <a:alpha val="0"/>
              </a:srgbClr>
            </a:solidFill>
            <a:prstDash val="solid"/>
          </a:ln>
        </p:spPr>
      </p:sp>
      <p:sp>
        <p:nvSpPr>
          <p:cNvPr id="5" name="Text 3"/>
          <p:cNvSpPr/>
          <p:nvPr/>
        </p:nvSpPr>
        <p:spPr>
          <a:xfrm>
            <a:off x="658368" y="1005840"/>
            <a:ext cx="4023360" cy="45720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What to change first</a:t>
            </a:r>
            <a:endParaRPr lang="en-US" sz="2800" dirty="0"/>
          </a:p>
        </p:txBody>
      </p:sp>
      <p:sp>
        <p:nvSpPr>
          <p:cNvPr id="6" name="Text 4"/>
          <p:cNvSpPr/>
          <p:nvPr/>
        </p:nvSpPr>
        <p:spPr>
          <a:xfrm>
            <a:off x="694944" y="1554480"/>
            <a:ext cx="5303520" cy="320040"/>
          </a:xfrm>
          <a:prstGeom prst="rect">
            <a:avLst/>
          </a:prstGeom>
          <a:noFill/>
          <a:ln/>
        </p:spPr>
        <p:txBody>
          <a:bodyPr wrap="square" lIns="0" tIns="0" rIns="0" bIns="0" rtlCol="0" anchor="ctr">
            <a:normAutofit/>
          </a:bodyPr>
          <a:lstStyle/>
          <a:p>
            <a:pPr indent="0" marL="0">
              <a:buNone/>
            </a:pPr>
            <a:r>
              <a:rPr lang="en-US" sz="1300" dirty="0">
                <a:solidFill>
                  <a:srgbClr val="D6DEE9"/>
                </a:solidFill>
                <a:latin typeface="Aptos" pitchFamily="34" charset="0"/>
                <a:ea typeface="Aptos" pitchFamily="34" charset="-122"/>
                <a:cs typeface="Aptos" pitchFamily="34" charset="-120"/>
              </a:rPr>
              <a:t>A simple upgrade plan you can apply to almost any academic presentation.</a:t>
            </a:r>
            <a:endParaRPr lang="en-US" sz="1300" dirty="0"/>
          </a:p>
        </p:txBody>
      </p:sp>
      <p:sp>
        <p:nvSpPr>
          <p:cNvPr id="7" name="Shape 5"/>
          <p:cNvSpPr/>
          <p:nvPr/>
        </p:nvSpPr>
        <p:spPr>
          <a:xfrm>
            <a:off x="694944" y="2148840"/>
            <a:ext cx="3520440" cy="1417320"/>
          </a:xfrm>
          <a:prstGeom prst="roundRect">
            <a:avLst>
              <a:gd name="adj" fmla="val 3871"/>
            </a:avLst>
          </a:prstGeom>
          <a:solidFill>
            <a:srgbClr val="FFF8EE"/>
          </a:solidFill>
          <a:ln w="12700">
            <a:solidFill>
              <a:srgbClr val="2A3246"/>
            </a:solidFill>
            <a:prstDash val="solid"/>
          </a:ln>
        </p:spPr>
      </p:sp>
      <p:sp>
        <p:nvSpPr>
          <p:cNvPr id="8" name="Text 6"/>
          <p:cNvSpPr/>
          <p:nvPr/>
        </p:nvSpPr>
        <p:spPr>
          <a:xfrm>
            <a:off x="859536" y="2267712"/>
            <a:ext cx="658368" cy="164592"/>
          </a:xfrm>
          <a:prstGeom prst="rect">
            <a:avLst/>
          </a:prstGeom>
          <a:noFill/>
          <a:ln/>
        </p:spPr>
        <p:txBody>
          <a:bodyPr wrap="square" lIns="0" tIns="0" rIns="0" bIns="0" rtlCol="0" anchor="ctr"/>
          <a:lstStyle/>
          <a:p>
            <a:pPr indent="0" marL="0">
              <a:buNone/>
            </a:pPr>
            <a:r>
              <a:rPr lang="en-US" sz="900" b="1" dirty="0">
                <a:solidFill>
                  <a:srgbClr val="F97316"/>
                </a:solidFill>
                <a:latin typeface="Aptos" pitchFamily="34" charset="0"/>
                <a:ea typeface="Aptos" pitchFamily="34" charset="-122"/>
                <a:cs typeface="Aptos" pitchFamily="34" charset="-120"/>
              </a:rPr>
              <a:t>1</a:t>
            </a:r>
            <a:endParaRPr lang="en-US" sz="900" dirty="0"/>
          </a:p>
        </p:txBody>
      </p:sp>
      <p:sp>
        <p:nvSpPr>
          <p:cNvPr id="9" name="Text 7"/>
          <p:cNvSpPr/>
          <p:nvPr/>
        </p:nvSpPr>
        <p:spPr>
          <a:xfrm>
            <a:off x="859536" y="2432304"/>
            <a:ext cx="3108960" cy="256032"/>
          </a:xfrm>
          <a:prstGeom prst="rect">
            <a:avLst/>
          </a:prstGeom>
          <a:noFill/>
          <a:ln/>
        </p:spPr>
        <p:txBody>
          <a:bodyPr wrap="square" lIns="0" tIns="0" rIns="0" bIns="0" rtlCol="0" anchor="ctr"/>
          <a:lstStyle/>
          <a:p>
            <a:pPr indent="0" marL="0">
              <a:buNone/>
            </a:pPr>
            <a:r>
              <a:rPr lang="en-US" sz="1700" b="1" dirty="0">
                <a:solidFill>
                  <a:srgbClr val="1F2937"/>
                </a:solidFill>
                <a:latin typeface="Aptos Display" pitchFamily="34" charset="0"/>
                <a:ea typeface="Aptos Display" pitchFamily="34" charset="-122"/>
                <a:cs typeface="Aptos Display" pitchFamily="34" charset="-120"/>
              </a:rPr>
              <a:t>Open with a question</a:t>
            </a:r>
            <a:endParaRPr lang="en-US" sz="1700" dirty="0"/>
          </a:p>
        </p:txBody>
      </p:sp>
      <p:sp>
        <p:nvSpPr>
          <p:cNvPr id="10" name="Text 8"/>
          <p:cNvSpPr/>
          <p:nvPr/>
        </p:nvSpPr>
        <p:spPr>
          <a:xfrm>
            <a:off x="859536" y="2734056"/>
            <a:ext cx="3127248" cy="548640"/>
          </a:xfrm>
          <a:prstGeom prst="rect">
            <a:avLst/>
          </a:prstGeom>
          <a:noFill/>
          <a:ln/>
        </p:spPr>
        <p:txBody>
          <a:bodyPr wrap="square" lIns="0" tIns="0" rIns="0" bIns="0" rtlCol="0" anchor="ctr">
            <a:normAutofit/>
          </a:bodyPr>
          <a:lstStyle/>
          <a:p>
            <a:pPr indent="0" marL="0">
              <a:buNone/>
            </a:pPr>
            <a:r>
              <a:rPr lang="en-US" sz="1100" dirty="0">
                <a:solidFill>
                  <a:srgbClr val="64748B"/>
                </a:solidFill>
                <a:latin typeface="Aptos" pitchFamily="34" charset="0"/>
                <a:ea typeface="Aptos" pitchFamily="34" charset="-122"/>
                <a:cs typeface="Aptos" pitchFamily="34" charset="-120"/>
              </a:rPr>
              <a:t>Use tension, surprise, or an immersive prompt instead of a long introduction.</a:t>
            </a:r>
            <a:endParaRPr lang="en-US" sz="1100" dirty="0"/>
          </a:p>
        </p:txBody>
      </p:sp>
      <p:sp>
        <p:nvSpPr>
          <p:cNvPr id="11" name="Shape 9"/>
          <p:cNvSpPr/>
          <p:nvPr/>
        </p:nvSpPr>
        <p:spPr>
          <a:xfrm>
            <a:off x="4425696" y="2148840"/>
            <a:ext cx="3520440" cy="1417320"/>
          </a:xfrm>
          <a:prstGeom prst="roundRect">
            <a:avLst>
              <a:gd name="adj" fmla="val 3871"/>
            </a:avLst>
          </a:prstGeom>
          <a:solidFill>
            <a:srgbClr val="EEF8F6"/>
          </a:solidFill>
          <a:ln w="12700">
            <a:solidFill>
              <a:srgbClr val="2A3246"/>
            </a:solidFill>
            <a:prstDash val="solid"/>
          </a:ln>
        </p:spPr>
      </p:sp>
      <p:sp>
        <p:nvSpPr>
          <p:cNvPr id="12" name="Text 10"/>
          <p:cNvSpPr/>
          <p:nvPr/>
        </p:nvSpPr>
        <p:spPr>
          <a:xfrm>
            <a:off x="4590288" y="2267712"/>
            <a:ext cx="658368" cy="164592"/>
          </a:xfrm>
          <a:prstGeom prst="rect">
            <a:avLst/>
          </a:prstGeom>
          <a:noFill/>
          <a:ln/>
        </p:spPr>
        <p:txBody>
          <a:bodyPr wrap="square" lIns="0" tIns="0" rIns="0" bIns="0" rtlCol="0" anchor="ctr"/>
          <a:lstStyle/>
          <a:p>
            <a:pPr indent="0" marL="0">
              <a:buNone/>
            </a:pPr>
            <a:r>
              <a:rPr lang="en-US" sz="900" b="1" dirty="0">
                <a:solidFill>
                  <a:srgbClr val="F97316"/>
                </a:solidFill>
                <a:latin typeface="Aptos" pitchFamily="34" charset="0"/>
                <a:ea typeface="Aptos" pitchFamily="34" charset="-122"/>
                <a:cs typeface="Aptos" pitchFamily="34" charset="-120"/>
              </a:rPr>
              <a:t>2</a:t>
            </a:r>
            <a:endParaRPr lang="en-US" sz="900" dirty="0"/>
          </a:p>
        </p:txBody>
      </p:sp>
      <p:sp>
        <p:nvSpPr>
          <p:cNvPr id="13" name="Text 11"/>
          <p:cNvSpPr/>
          <p:nvPr/>
        </p:nvSpPr>
        <p:spPr>
          <a:xfrm>
            <a:off x="4590288" y="2432304"/>
            <a:ext cx="3108960" cy="256032"/>
          </a:xfrm>
          <a:prstGeom prst="rect">
            <a:avLst/>
          </a:prstGeom>
          <a:noFill/>
          <a:ln/>
        </p:spPr>
        <p:txBody>
          <a:bodyPr wrap="square" lIns="0" tIns="0" rIns="0" bIns="0" rtlCol="0" anchor="ctr"/>
          <a:lstStyle/>
          <a:p>
            <a:pPr indent="0" marL="0">
              <a:buNone/>
            </a:pPr>
            <a:r>
              <a:rPr lang="en-US" sz="1700" b="1" dirty="0">
                <a:solidFill>
                  <a:srgbClr val="1F2937"/>
                </a:solidFill>
                <a:latin typeface="Aptos Display" pitchFamily="34" charset="0"/>
                <a:ea typeface="Aptos Display" pitchFamily="34" charset="-122"/>
                <a:cs typeface="Aptos Display" pitchFamily="34" charset="-120"/>
              </a:rPr>
              <a:t>Turn bullets into claims</a:t>
            </a:r>
            <a:endParaRPr lang="en-US" sz="1700" dirty="0"/>
          </a:p>
        </p:txBody>
      </p:sp>
      <p:sp>
        <p:nvSpPr>
          <p:cNvPr id="14" name="Text 12"/>
          <p:cNvSpPr/>
          <p:nvPr/>
        </p:nvSpPr>
        <p:spPr>
          <a:xfrm>
            <a:off x="4590288" y="2734056"/>
            <a:ext cx="3127248" cy="548640"/>
          </a:xfrm>
          <a:prstGeom prst="rect">
            <a:avLst/>
          </a:prstGeom>
          <a:noFill/>
          <a:ln/>
        </p:spPr>
        <p:txBody>
          <a:bodyPr wrap="square" lIns="0" tIns="0" rIns="0" bIns="0" rtlCol="0" anchor="ctr">
            <a:normAutofit/>
          </a:bodyPr>
          <a:lstStyle/>
          <a:p>
            <a:pPr indent="0" marL="0">
              <a:buNone/>
            </a:pPr>
            <a:r>
              <a:rPr lang="en-US" sz="1100" dirty="0">
                <a:solidFill>
                  <a:srgbClr val="64748B"/>
                </a:solidFill>
                <a:latin typeface="Aptos" pitchFamily="34" charset="0"/>
                <a:ea typeface="Aptos" pitchFamily="34" charset="-122"/>
                <a:cs typeface="Aptos" pitchFamily="34" charset="-120"/>
              </a:rPr>
              <a:t>Each slide should have one message, one visual, and one point of emphasis.</a:t>
            </a:r>
            <a:endParaRPr lang="en-US" sz="1100" dirty="0"/>
          </a:p>
        </p:txBody>
      </p:sp>
      <p:sp>
        <p:nvSpPr>
          <p:cNvPr id="15" name="Shape 13"/>
          <p:cNvSpPr/>
          <p:nvPr/>
        </p:nvSpPr>
        <p:spPr>
          <a:xfrm>
            <a:off x="8156448" y="2148840"/>
            <a:ext cx="3520440" cy="1417320"/>
          </a:xfrm>
          <a:prstGeom prst="roundRect">
            <a:avLst>
              <a:gd name="adj" fmla="val 3871"/>
            </a:avLst>
          </a:prstGeom>
          <a:solidFill>
            <a:srgbClr val="FFF2F2"/>
          </a:solidFill>
          <a:ln w="12700">
            <a:solidFill>
              <a:srgbClr val="2A3246"/>
            </a:solidFill>
            <a:prstDash val="solid"/>
          </a:ln>
        </p:spPr>
      </p:sp>
      <p:sp>
        <p:nvSpPr>
          <p:cNvPr id="16" name="Text 14"/>
          <p:cNvSpPr/>
          <p:nvPr/>
        </p:nvSpPr>
        <p:spPr>
          <a:xfrm>
            <a:off x="8321040" y="2267712"/>
            <a:ext cx="658368" cy="164592"/>
          </a:xfrm>
          <a:prstGeom prst="rect">
            <a:avLst/>
          </a:prstGeom>
          <a:noFill/>
          <a:ln/>
        </p:spPr>
        <p:txBody>
          <a:bodyPr wrap="square" lIns="0" tIns="0" rIns="0" bIns="0" rtlCol="0" anchor="ctr"/>
          <a:lstStyle/>
          <a:p>
            <a:pPr indent="0" marL="0">
              <a:buNone/>
            </a:pPr>
            <a:r>
              <a:rPr lang="en-US" sz="900" b="1" dirty="0">
                <a:solidFill>
                  <a:srgbClr val="F97316"/>
                </a:solidFill>
                <a:latin typeface="Aptos" pitchFamily="34" charset="0"/>
                <a:ea typeface="Aptos" pitchFamily="34" charset="-122"/>
                <a:cs typeface="Aptos" pitchFamily="34" charset="-120"/>
              </a:rPr>
              <a:t>3</a:t>
            </a:r>
            <a:endParaRPr lang="en-US" sz="900" dirty="0"/>
          </a:p>
        </p:txBody>
      </p:sp>
      <p:sp>
        <p:nvSpPr>
          <p:cNvPr id="17" name="Text 15"/>
          <p:cNvSpPr/>
          <p:nvPr/>
        </p:nvSpPr>
        <p:spPr>
          <a:xfrm>
            <a:off x="8321040" y="2432304"/>
            <a:ext cx="3108960" cy="256032"/>
          </a:xfrm>
          <a:prstGeom prst="rect">
            <a:avLst/>
          </a:prstGeom>
          <a:noFill/>
          <a:ln/>
        </p:spPr>
        <p:txBody>
          <a:bodyPr wrap="square" lIns="0" tIns="0" rIns="0" bIns="0" rtlCol="0" anchor="ctr"/>
          <a:lstStyle/>
          <a:p>
            <a:pPr indent="0" marL="0">
              <a:buNone/>
            </a:pPr>
            <a:r>
              <a:rPr lang="en-US" sz="1700" b="1" dirty="0">
                <a:solidFill>
                  <a:srgbClr val="1F2937"/>
                </a:solidFill>
                <a:latin typeface="Aptos Display" pitchFamily="34" charset="0"/>
                <a:ea typeface="Aptos Display" pitchFamily="34" charset="-122"/>
                <a:cs typeface="Aptos Display" pitchFamily="34" charset="-120"/>
              </a:rPr>
              <a:t>End with the so what</a:t>
            </a:r>
            <a:endParaRPr lang="en-US" sz="1700" dirty="0"/>
          </a:p>
        </p:txBody>
      </p:sp>
      <p:sp>
        <p:nvSpPr>
          <p:cNvPr id="18" name="Text 16"/>
          <p:cNvSpPr/>
          <p:nvPr/>
        </p:nvSpPr>
        <p:spPr>
          <a:xfrm>
            <a:off x="8321040" y="2734056"/>
            <a:ext cx="3127248" cy="548640"/>
          </a:xfrm>
          <a:prstGeom prst="rect">
            <a:avLst/>
          </a:prstGeom>
          <a:noFill/>
          <a:ln/>
        </p:spPr>
        <p:txBody>
          <a:bodyPr wrap="square" lIns="0" tIns="0" rIns="0" bIns="0" rtlCol="0" anchor="ctr">
            <a:normAutofit/>
          </a:bodyPr>
          <a:lstStyle/>
          <a:p>
            <a:pPr indent="0" marL="0">
              <a:buNone/>
            </a:pPr>
            <a:r>
              <a:rPr lang="en-US" sz="1100" dirty="0">
                <a:solidFill>
                  <a:srgbClr val="64748B"/>
                </a:solidFill>
                <a:latin typeface="Aptos" pitchFamily="34" charset="0"/>
                <a:ea typeface="Aptos" pitchFamily="34" charset="-122"/>
                <a:cs typeface="Aptos" pitchFamily="34" charset="-120"/>
              </a:rPr>
              <a:t>Do not stop at the result. Explain why it matters and what the audience should remember.</a:t>
            </a:r>
            <a:endParaRPr lang="en-US" sz="1100" dirty="0"/>
          </a:p>
        </p:txBody>
      </p:sp>
      <p:sp>
        <p:nvSpPr>
          <p:cNvPr id="19" name="Shape 17"/>
          <p:cNvSpPr/>
          <p:nvPr/>
        </p:nvSpPr>
        <p:spPr>
          <a:xfrm>
            <a:off x="731520" y="4937760"/>
            <a:ext cx="10927080" cy="868680"/>
          </a:xfrm>
          <a:prstGeom prst="roundRect">
            <a:avLst>
              <a:gd name="adj" fmla="val 7368"/>
            </a:avLst>
          </a:prstGeom>
          <a:solidFill>
            <a:srgbClr val="121B2E"/>
          </a:solidFill>
          <a:ln w="12700">
            <a:solidFill>
              <a:srgbClr val="E7E1D6"/>
            </a:solidFill>
            <a:prstDash val="solid"/>
          </a:ln>
        </p:spPr>
      </p:sp>
      <p:sp>
        <p:nvSpPr>
          <p:cNvPr id="20" name="Shape 18"/>
          <p:cNvSpPr/>
          <p:nvPr/>
        </p:nvSpPr>
        <p:spPr>
          <a:xfrm>
            <a:off x="896112" y="5102352"/>
            <a:ext cx="502920" cy="73152"/>
          </a:xfrm>
          <a:prstGeom prst="rect">
            <a:avLst/>
          </a:prstGeom>
          <a:solidFill>
            <a:srgbClr val="F4B942"/>
          </a:solidFill>
          <a:ln w="12700">
            <a:solidFill>
              <a:srgbClr val="F4B942">
                <a:alpha val="0"/>
              </a:srgbClr>
            </a:solidFill>
            <a:prstDash val="solid"/>
          </a:ln>
        </p:spPr>
      </p:sp>
      <p:sp>
        <p:nvSpPr>
          <p:cNvPr id="21" name="Text 19"/>
          <p:cNvSpPr/>
          <p:nvPr/>
        </p:nvSpPr>
        <p:spPr>
          <a:xfrm>
            <a:off x="932688" y="5340096"/>
            <a:ext cx="10543032" cy="320040"/>
          </a:xfrm>
          <a:prstGeom prst="rect">
            <a:avLst/>
          </a:prstGeom>
          <a:noFill/>
          <a:ln/>
        </p:spPr>
        <p:txBody>
          <a:bodyPr wrap="square" lIns="0" tIns="0" rIns="0" bIns="0" rtlCol="0" anchor="ctr">
            <a:normAutofit/>
          </a:bodyPr>
          <a:lstStyle/>
          <a:p>
            <a:pPr indent="0" marL="0">
              <a:buNone/>
            </a:pPr>
            <a:r>
              <a:rPr lang="en-US" sz="1800" i="1" dirty="0">
                <a:solidFill>
                  <a:srgbClr val="1F2937"/>
                </a:solidFill>
                <a:latin typeface="Aptos Display" pitchFamily="34" charset="0"/>
                <a:ea typeface="Aptos Display" pitchFamily="34" charset="-122"/>
                <a:cs typeface="Aptos Display" pitchFamily="34" charset="-120"/>
              </a:rPr>
              <a:t>A strong talk is clear enough to follow, and vivid enough to remember.</a:t>
            </a:r>
            <a:endParaRPr lang="en-US" sz="1800" dirty="0"/>
          </a:p>
        </p:txBody>
      </p:sp>
      <p:sp>
        <p:nvSpPr>
          <p:cNvPr id="22" name="Text 20"/>
          <p:cNvSpPr/>
          <p:nvPr/>
        </p:nvSpPr>
        <p:spPr>
          <a:xfrm>
            <a:off x="914400" y="6053328"/>
            <a:ext cx="1014984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Aptos Display" pitchFamily="34" charset="0"/>
                <a:ea typeface="Aptos Display" pitchFamily="34" charset="-122"/>
                <a:cs typeface="Aptos Display" pitchFamily="34" charset="-120"/>
              </a:rPr>
              <a:t>If they can retell your argument in one sentence, it worked.</a:t>
            </a:r>
            <a:endParaRPr lang="en-US" sz="1600" dirty="0"/>
          </a:p>
        </p:txBody>
      </p:sp>
      <p:sp>
        <p:nvSpPr>
          <p:cNvPr id="23" name="Text 21"/>
          <p:cNvSpPr/>
          <p:nvPr/>
        </p:nvSpPr>
        <p:spPr>
          <a:xfrm>
            <a:off x="11475720" y="6446520"/>
            <a:ext cx="411480" cy="182880"/>
          </a:xfrm>
          <a:prstGeom prst="rect">
            <a:avLst/>
          </a:prstGeom>
          <a:noFill/>
          <a:ln/>
        </p:spPr>
        <p:txBody>
          <a:bodyPr wrap="square" lIns="0" tIns="0" rIns="0" bIns="0" rtlCol="0" anchor="ctr"/>
          <a:lstStyle/>
          <a:p>
            <a:pPr algn="r" indent="0" marL="0">
              <a:buNone/>
            </a:pPr>
            <a:r>
              <a:rPr lang="en-US" sz="900" dirty="0">
                <a:solidFill>
                  <a:srgbClr val="D6DEE9"/>
                </a:solidFill>
                <a:latin typeface="Aptos" pitchFamily="34" charset="0"/>
                <a:ea typeface="Aptos" pitchFamily="34" charset="-122"/>
                <a:cs typeface="Aptos" pitchFamily="34" charset="-120"/>
              </a:rPr>
              <a:t>08</a:t>
            </a:r>
            <a:endParaRPr lang="en-US" sz="900" dirty="0"/>
          </a:p>
        </p:txBody>
      </p:sp>
      <p:sp>
        <p:nvSpPr>
          <p:cNvPr id="24" name="Text 22"/>
          <p:cNvSpPr/>
          <p:nvPr/>
        </p:nvSpPr>
        <p:spPr>
          <a:xfrm>
            <a:off x="594360" y="6455664"/>
            <a:ext cx="2560320" cy="146304"/>
          </a:xfrm>
          <a:prstGeom prst="rect">
            <a:avLst/>
          </a:prstGeom>
          <a:noFill/>
          <a:ln/>
        </p:spPr>
        <p:txBody>
          <a:bodyPr wrap="square" lIns="0" tIns="0" rIns="0" bIns="0" rtlCol="0" anchor="ctr"/>
          <a:lstStyle/>
          <a:p>
            <a:pPr indent="0" marL="0">
              <a:buNone/>
            </a:pPr>
            <a:r>
              <a:rPr lang="en-US" sz="800" dirty="0">
                <a:solidFill>
                  <a:srgbClr val="D6DEE9"/>
                </a:solidFill>
                <a:latin typeface="Aptos" pitchFamily="34" charset="0"/>
                <a:ea typeface="Aptos" pitchFamily="34" charset="-122"/>
                <a:cs typeface="Aptos" pitchFamily="34" charset="-120"/>
              </a:rPr>
              <a:t>Storytelling for academic talks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mhm-pipeline-web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Turn Your Academic Talk Into a Story</dc:title>
  <dc:subject>Storytelling in academic and scientific presentations</dc:subject>
  <dc:creator>Codex</dc:creator>
  <cp:lastModifiedBy>Codex</cp:lastModifiedBy>
  <cp:revision>1</cp:revision>
  <dcterms:created xsi:type="dcterms:W3CDTF">2026-06-12T06:15:45Z</dcterms:created>
  <dcterms:modified xsi:type="dcterms:W3CDTF">2026-06-12T06:15:45Z</dcterms:modified>
</cp:coreProperties>
</file>